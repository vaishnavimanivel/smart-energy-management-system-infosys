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5"/>
  </p:notesMasterIdLst>
  <p:sldIdLst>
    <p:sldId id="256" r:id="rId2"/>
    <p:sldId id="264" r:id="rId3"/>
    <p:sldId id="267" r:id="rId4"/>
    <p:sldId id="263" r:id="rId5"/>
    <p:sldId id="268" r:id="rId6"/>
    <p:sldId id="277" r:id="rId7"/>
    <p:sldId id="281" r:id="rId8"/>
    <p:sldId id="282" r:id="rId9"/>
    <p:sldId id="283" r:id="rId10"/>
    <p:sldId id="294" r:id="rId11"/>
    <p:sldId id="295" r:id="rId12"/>
    <p:sldId id="296" r:id="rId13"/>
    <p:sldId id="278" r:id="rId14"/>
    <p:sldId id="285" r:id="rId15"/>
    <p:sldId id="286" r:id="rId16"/>
    <p:sldId id="287" r:id="rId17"/>
    <p:sldId id="288" r:id="rId18"/>
    <p:sldId id="293" r:id="rId19"/>
    <p:sldId id="280" r:id="rId20"/>
    <p:sldId id="290" r:id="rId21"/>
    <p:sldId id="291" r:id="rId22"/>
    <p:sldId id="292" r:id="rId23"/>
    <p:sldId id="297" r:id="rId24"/>
  </p:sldIdLst>
  <p:sldSz cx="9144000" cy="5143500" type="screen16x9"/>
  <p:notesSz cx="6858000" cy="9144000"/>
  <p:embeddedFontLst>
    <p:embeddedFont>
      <p:font typeface="Lato" panose="020F0502020204030204" pitchFamily="34" charset="0"/>
      <p:regular r:id="rId26"/>
      <p:bold r:id="rId27"/>
      <p:italic r:id="rId28"/>
      <p:boldItalic r:id="rId29"/>
    </p:embeddedFont>
    <p:embeddedFont>
      <p:font typeface="Raleway" panose="020F0502020204030204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46ee7dff8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46ee7dff8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1622d5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51622d5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430e6bdd_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430e6bdd_5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51622d55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51622d55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1e21383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1e213838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E066E806-EEDA-B640-1842-02221403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d9c67055b_0_154:notes">
            <a:extLst>
              <a:ext uri="{FF2B5EF4-FFF2-40B4-BE49-F238E27FC236}">
                <a16:creationId xmlns:a16="http://schemas.microsoft.com/office/drawing/2014/main" id="{7CCD9DC9-2A78-A1BD-16E2-9C254AA46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d9c67055b_0_154:notes">
            <a:extLst>
              <a:ext uri="{FF2B5EF4-FFF2-40B4-BE49-F238E27FC236}">
                <a16:creationId xmlns:a16="http://schemas.microsoft.com/office/drawing/2014/main" id="{5AE34BD4-F73B-30FF-4E3D-D1745B6D9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6ee7dff8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46ee7dff8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d9c67055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d9c67055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name="adj" fmla="val 96745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name="adj" fmla="val 9855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name="adj" fmla="val 1882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name="adj" fmla="val 1764"/>
              </a:avLst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Google Shape;34;p3" descr="Component Detail"/>
          <p:cNvPicPr preferRelativeResize="0"/>
          <p:nvPr/>
        </p:nvPicPr>
        <p:blipFill rotWithShape="1">
          <a:blip r:embed="rId2">
            <a:alphaModFix/>
          </a:blip>
          <a:srcRect b="25076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name="adj" fmla="val 4551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name="adj" fmla="val 4551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name="adj" fmla="val 50000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1" name="Google Shape;41;p3" descr="Mobile View"/>
            <p:cNvPicPr preferRelativeResize="0"/>
            <p:nvPr/>
          </p:nvPicPr>
          <p:blipFill rotWithShape="1">
            <a:blip r:embed="rId3">
              <a:alphaModFix/>
            </a:blip>
            <a:srcRect t="4362" b="4371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15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37878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Management 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subTitle" idx="1"/>
          </p:nvPr>
        </p:nvSpPr>
        <p:spPr>
          <a:xfrm>
            <a:off x="729600" y="2921750"/>
            <a:ext cx="37878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Vaishnavi M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A062F1-2ABA-DA90-6D8C-13B997642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35259"/>
            <a:ext cx="4507804" cy="4527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1308410" y="2078875"/>
            <a:ext cx="6579219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Home Energy Management System (SHEMS) is an intelligent automation platform that monitors, controls, and optimizes the energy consumption of household electrical devices.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comfort while reducing electricity bills through data analytics and smart decision-making.</a:t>
            </a:r>
            <a:endParaRPr lang="en-IN" sz="1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573332" y="136325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                        </a:t>
            </a:r>
            <a:r>
              <a:rPr lang="en-IN" sz="2800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the Title</a:t>
            </a:r>
            <a:endParaRPr sz="2800" dirty="0">
              <a:solidFill>
                <a:schemeClr val="bg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>
            <a:spLocks noGrp="1"/>
          </p:cNvSpPr>
          <p:nvPr>
            <p:ph type="title"/>
          </p:nvPr>
        </p:nvSpPr>
        <p:spPr>
          <a:xfrm>
            <a:off x="673811" y="768522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MODULES AND WORK OF EACH MODULE</a:t>
            </a:r>
            <a:endParaRPr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body" idx="1"/>
          </p:nvPr>
        </p:nvSpPr>
        <p:spPr>
          <a:xfrm>
            <a:off x="535260" y="1196898"/>
            <a:ext cx="8352380" cy="343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1-Authentication &amp; Role Management</a:t>
            </a:r>
            <a:b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Login,Password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Validation,Role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Access Control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Smart </a:t>
            </a:r>
            <a:r>
              <a:rPr lang="fr-FR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Add/Update/Delete ,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device,Fetch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 of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devices,Control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operations,Store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update   device configurations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Real-Time Energy Tracking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Collect energy usage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metrics,Log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continuously,Provide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usage reports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Dashboard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Fetch historical energy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logs,Process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for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patterns,Generate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graphs and charts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Scheduling &amp; Automation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Create and store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schedules,Execute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tasks at exact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time,Notify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automatically.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Recommendation System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Smart suggestions to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optimite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consumption and reduce energy bills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7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 ARCHITECTURE</a:t>
            </a:r>
            <a:endParaRPr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5207600" y="2891725"/>
            <a:ext cx="33009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5207575" y="3142990"/>
            <a:ext cx="33009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AB33EE-EFF1-3922-F515-83A5E0CBF1F7}"/>
              </a:ext>
            </a:extLst>
          </p:cNvPr>
          <p:cNvSpPr/>
          <p:nvPr/>
        </p:nvSpPr>
        <p:spPr>
          <a:xfrm>
            <a:off x="5761463" y="224597"/>
            <a:ext cx="1754459" cy="6393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B86D88-B3F2-FBBD-84A6-835DFDE84C16}"/>
              </a:ext>
            </a:extLst>
          </p:cNvPr>
          <p:cNvSpPr/>
          <p:nvPr/>
        </p:nvSpPr>
        <p:spPr>
          <a:xfrm>
            <a:off x="5731727" y="1360621"/>
            <a:ext cx="1813932" cy="622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5BE5BE-FC95-4057-2185-4B206F442FEE}"/>
              </a:ext>
            </a:extLst>
          </p:cNvPr>
          <p:cNvSpPr/>
          <p:nvPr/>
        </p:nvSpPr>
        <p:spPr>
          <a:xfrm>
            <a:off x="5761464" y="2446954"/>
            <a:ext cx="1754458" cy="622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A612F4-B1C2-EDD9-F167-7F8958DB04E5}"/>
              </a:ext>
            </a:extLst>
          </p:cNvPr>
          <p:cNvSpPr/>
          <p:nvPr/>
        </p:nvSpPr>
        <p:spPr>
          <a:xfrm>
            <a:off x="5761463" y="3497513"/>
            <a:ext cx="1784196" cy="62446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5C42FA-8766-7204-9AAE-ED5DA0E631A4}"/>
              </a:ext>
            </a:extLst>
          </p:cNvPr>
          <p:cNvSpPr/>
          <p:nvPr/>
        </p:nvSpPr>
        <p:spPr>
          <a:xfrm>
            <a:off x="5761463" y="4557131"/>
            <a:ext cx="1784196" cy="4757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C952E-0D4B-F6F0-DEF3-52F3A15C0963}"/>
              </a:ext>
            </a:extLst>
          </p:cNvPr>
          <p:cNvSpPr txBox="1"/>
          <p:nvPr/>
        </p:nvSpPr>
        <p:spPr>
          <a:xfrm>
            <a:off x="6069981" y="370870"/>
            <a:ext cx="113742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Meters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F9BF6-78E2-2DCA-466C-0FA5BE8D1BB8}"/>
              </a:ext>
            </a:extLst>
          </p:cNvPr>
          <p:cNvSpPr txBox="1"/>
          <p:nvPr/>
        </p:nvSpPr>
        <p:spPr>
          <a:xfrm>
            <a:off x="5902712" y="1334932"/>
            <a:ext cx="14719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Management Unit (EMU)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E12A3-D2A1-9D4B-93FA-C393A11CF9E1}"/>
              </a:ext>
            </a:extLst>
          </p:cNvPr>
          <p:cNvSpPr txBox="1"/>
          <p:nvPr/>
        </p:nvSpPr>
        <p:spPr>
          <a:xfrm>
            <a:off x="5854389" y="2426213"/>
            <a:ext cx="1568605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Appliances / HAN / Renewable Energy Sources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1C506-D873-57DD-A552-5A04C2000BAE}"/>
              </a:ext>
            </a:extLst>
          </p:cNvPr>
          <p:cNvSpPr txBox="1"/>
          <p:nvPr/>
        </p:nvSpPr>
        <p:spPr>
          <a:xfrm>
            <a:off x="5955679" y="3639832"/>
            <a:ext cx="136602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A25EB-B922-08EE-4319-E00F0383C122}"/>
              </a:ext>
            </a:extLst>
          </p:cNvPr>
          <p:cNvSpPr txBox="1"/>
          <p:nvPr/>
        </p:nvSpPr>
        <p:spPr>
          <a:xfrm>
            <a:off x="5970549" y="4533414"/>
            <a:ext cx="136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(Mobile/Web)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1BC3D9-9B86-CCEC-5236-1761B4929F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638693" y="886396"/>
            <a:ext cx="0" cy="448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DC10A4-D5B2-9FC9-5412-9FAECC5EBDAC}"/>
              </a:ext>
            </a:extLst>
          </p:cNvPr>
          <p:cNvCxnSpPr>
            <a:endCxn id="10" idx="0"/>
          </p:cNvCxnSpPr>
          <p:nvPr/>
        </p:nvCxnSpPr>
        <p:spPr>
          <a:xfrm>
            <a:off x="6638691" y="1982692"/>
            <a:ext cx="1" cy="44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C61F94-BC59-FE8D-21AC-48EEEC35A91B}"/>
              </a:ext>
            </a:extLst>
          </p:cNvPr>
          <p:cNvCxnSpPr>
            <a:cxnSpLocks/>
          </p:cNvCxnSpPr>
          <p:nvPr/>
        </p:nvCxnSpPr>
        <p:spPr>
          <a:xfrm>
            <a:off x="6608951" y="3069025"/>
            <a:ext cx="0" cy="378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3FA9FC-6727-6BBE-F68D-AA5BB528D64F}"/>
              </a:ext>
            </a:extLst>
          </p:cNvPr>
          <p:cNvCxnSpPr>
            <a:cxnSpLocks/>
          </p:cNvCxnSpPr>
          <p:nvPr/>
        </p:nvCxnSpPr>
        <p:spPr>
          <a:xfrm>
            <a:off x="6623821" y="4155358"/>
            <a:ext cx="14870" cy="378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1-Authentication &amp; Role Management:</a:t>
            </a:r>
            <a:endParaRPr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ACTIVITIES: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credentials (username and password) for login.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password securely using hashing/validation.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secure session/token on successful login.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the user role and grants access based on permissions.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error for invalid login and supports secure logout.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 IN MODULE 1:</a:t>
            </a:r>
            <a:endParaRPr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Google Shape;294;p3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: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Stores user details such as username, password, role and personal information.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Handles user requests like login, logout and registration from the UI.         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Performs authentication logic including password validation and token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Interacts with the database to store, update and retrieve user information.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56B4-C801-69C9-7F3D-EF001B0CB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IN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7A89E-B9D1-C149-671E-71EC3CD6B955}"/>
              </a:ext>
            </a:extLst>
          </p:cNvPr>
          <p:cNvSpPr/>
          <p:nvPr/>
        </p:nvSpPr>
        <p:spPr>
          <a:xfrm>
            <a:off x="929268" y="2155902"/>
            <a:ext cx="2445834" cy="26614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E64A4B-9DD6-4DFD-1015-40675CE9652A}"/>
              </a:ext>
            </a:extLst>
          </p:cNvPr>
          <p:cNvCxnSpPr/>
          <p:nvPr/>
        </p:nvCxnSpPr>
        <p:spPr>
          <a:xfrm>
            <a:off x="929268" y="2787805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F262CA-99E3-0C5A-EDF4-0B2BE3E330B1}"/>
              </a:ext>
            </a:extLst>
          </p:cNvPr>
          <p:cNvCxnSpPr/>
          <p:nvPr/>
        </p:nvCxnSpPr>
        <p:spPr>
          <a:xfrm>
            <a:off x="929268" y="4326673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10DF32-8A6F-2A83-B8EA-A631CC46A55B}"/>
              </a:ext>
            </a:extLst>
          </p:cNvPr>
          <p:cNvSpPr txBox="1"/>
          <p:nvPr/>
        </p:nvSpPr>
        <p:spPr>
          <a:xfrm>
            <a:off x="1672682" y="2340267"/>
            <a:ext cx="1702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USER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DC999-DBB0-F445-12AA-092A3B969449}"/>
              </a:ext>
            </a:extLst>
          </p:cNvPr>
          <p:cNvSpPr txBox="1"/>
          <p:nvPr/>
        </p:nvSpPr>
        <p:spPr>
          <a:xfrm>
            <a:off x="1397618" y="2890397"/>
            <a:ext cx="22525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userId</a:t>
            </a:r>
            <a:r>
              <a:rPr lang="en-IN" dirty="0"/>
              <a:t>: int                           </a:t>
            </a:r>
          </a:p>
          <a:p>
            <a:r>
              <a:rPr lang="en-IN" dirty="0"/>
              <a:t>username: String                 password: String                  role: String                         name: String                       address: String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0899B-272F-1D5B-270C-D200E2344837}"/>
              </a:ext>
            </a:extLst>
          </p:cNvPr>
          <p:cNvSpPr txBox="1"/>
          <p:nvPr/>
        </p:nvSpPr>
        <p:spPr>
          <a:xfrm>
            <a:off x="1345580" y="4299617"/>
            <a:ext cx="2029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updateProfile</a:t>
            </a:r>
            <a:r>
              <a:rPr lang="en-IN" dirty="0"/>
              <a:t>()                    </a:t>
            </a:r>
            <a:r>
              <a:rPr lang="en-IN" dirty="0" err="1"/>
              <a:t>getRole</a:t>
            </a:r>
            <a:r>
              <a:rPr lang="en-IN" dirty="0"/>
              <a:t>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073723-B746-5A36-7DF0-85CB3D206D13}"/>
              </a:ext>
            </a:extLst>
          </p:cNvPr>
          <p:cNvSpPr/>
          <p:nvPr/>
        </p:nvSpPr>
        <p:spPr>
          <a:xfrm>
            <a:off x="5382321" y="2126208"/>
            <a:ext cx="2676293" cy="2326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C67B2F-EA95-36A8-59A3-7933657F132E}"/>
              </a:ext>
            </a:extLst>
          </p:cNvPr>
          <p:cNvCxnSpPr/>
          <p:nvPr/>
        </p:nvCxnSpPr>
        <p:spPr>
          <a:xfrm>
            <a:off x="5382321" y="2787805"/>
            <a:ext cx="26762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22F55-D27C-AA3E-22AA-7BD54F464C9A}"/>
              </a:ext>
            </a:extLst>
          </p:cNvPr>
          <p:cNvSpPr txBox="1"/>
          <p:nvPr/>
        </p:nvSpPr>
        <p:spPr>
          <a:xfrm>
            <a:off x="5646233" y="2323938"/>
            <a:ext cx="2341755" cy="307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AUTHCONTROLLER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F26A8-6EFB-85BA-C74E-E2FB5824CF7A}"/>
              </a:ext>
            </a:extLst>
          </p:cNvPr>
          <p:cNvSpPr txBox="1"/>
          <p:nvPr/>
        </p:nvSpPr>
        <p:spPr>
          <a:xfrm>
            <a:off x="5668536" y="3025698"/>
            <a:ext cx="2445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login(username, password)               logout()                                           register(User)</a:t>
            </a:r>
          </a:p>
        </p:txBody>
      </p:sp>
    </p:spTree>
    <p:extLst>
      <p:ext uri="{BB962C8B-B14F-4D97-AF65-F5344CB8AC3E}">
        <p14:creationId xmlns:p14="http://schemas.microsoft.com/office/powerpoint/2010/main" val="257868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51034F-1B07-A088-250D-078746E18233}"/>
              </a:ext>
            </a:extLst>
          </p:cNvPr>
          <p:cNvSpPr/>
          <p:nvPr/>
        </p:nvSpPr>
        <p:spPr>
          <a:xfrm>
            <a:off x="765717" y="1598341"/>
            <a:ext cx="3003395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CDC3E4-E882-B1A6-1723-64583910BB79}"/>
              </a:ext>
            </a:extLst>
          </p:cNvPr>
          <p:cNvSpPr/>
          <p:nvPr/>
        </p:nvSpPr>
        <p:spPr>
          <a:xfrm>
            <a:off x="4980878" y="1598340"/>
            <a:ext cx="3055434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2CCD4B-8FDD-A8FB-FA95-9E46FCF6FEDB}"/>
              </a:ext>
            </a:extLst>
          </p:cNvPr>
          <p:cNvCxnSpPr/>
          <p:nvPr/>
        </p:nvCxnSpPr>
        <p:spPr>
          <a:xfrm>
            <a:off x="765717" y="2155902"/>
            <a:ext cx="3003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72F2F3-CA5B-5978-BB84-A2083B9EC5AE}"/>
              </a:ext>
            </a:extLst>
          </p:cNvPr>
          <p:cNvCxnSpPr/>
          <p:nvPr/>
        </p:nvCxnSpPr>
        <p:spPr>
          <a:xfrm>
            <a:off x="4980878" y="2155902"/>
            <a:ext cx="3055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B4A5A32-13E9-62AB-F5D3-08484CFDA56D}"/>
              </a:ext>
            </a:extLst>
          </p:cNvPr>
          <p:cNvSpPr txBox="1"/>
          <p:nvPr/>
        </p:nvSpPr>
        <p:spPr>
          <a:xfrm>
            <a:off x="1353015" y="1723233"/>
            <a:ext cx="2572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AUTHSERVICE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94553-A7DB-8966-7067-C044EBFDFE37}"/>
              </a:ext>
            </a:extLst>
          </p:cNvPr>
          <p:cNvSpPr txBox="1"/>
          <p:nvPr/>
        </p:nvSpPr>
        <p:spPr>
          <a:xfrm>
            <a:off x="973873" y="2349190"/>
            <a:ext cx="26465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validateLogin</a:t>
            </a:r>
            <a:r>
              <a:rPr lang="en-IN" dirty="0"/>
              <a:t>(username, password): </a:t>
            </a:r>
            <a:r>
              <a:rPr lang="en-IN" dirty="0" err="1"/>
              <a:t>boolean</a:t>
            </a:r>
            <a:r>
              <a:rPr lang="en-IN" dirty="0"/>
              <a:t>        </a:t>
            </a:r>
            <a:r>
              <a:rPr lang="en-IN" dirty="0" err="1"/>
              <a:t>encryptPassword</a:t>
            </a:r>
            <a:r>
              <a:rPr lang="en-IN" dirty="0"/>
              <a:t>(password): String            </a:t>
            </a:r>
          </a:p>
          <a:p>
            <a:r>
              <a:rPr lang="en-IN" dirty="0" err="1"/>
              <a:t>generateToken</a:t>
            </a:r>
            <a:r>
              <a:rPr lang="en-IN" dirty="0"/>
              <a:t>(User): String                              </a:t>
            </a:r>
          </a:p>
          <a:p>
            <a:r>
              <a:rPr lang="en-IN" dirty="0" err="1"/>
              <a:t>validateToken</a:t>
            </a:r>
            <a:r>
              <a:rPr lang="en-IN" dirty="0"/>
              <a:t>(token): </a:t>
            </a:r>
            <a:r>
              <a:rPr lang="en-IN" dirty="0" err="1"/>
              <a:t>boolean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52657-F0C5-3034-D296-49A5194182C5}"/>
              </a:ext>
            </a:extLst>
          </p:cNvPr>
          <p:cNvSpPr txBox="1"/>
          <p:nvPr/>
        </p:nvSpPr>
        <p:spPr>
          <a:xfrm>
            <a:off x="5560741" y="1729178"/>
            <a:ext cx="247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USERREPOSITORY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44985-D715-8E73-D58A-AA30B480F25C}"/>
              </a:ext>
            </a:extLst>
          </p:cNvPr>
          <p:cNvSpPr txBox="1"/>
          <p:nvPr/>
        </p:nvSpPr>
        <p:spPr>
          <a:xfrm>
            <a:off x="5114693" y="2416098"/>
            <a:ext cx="2795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findUserByUsername</a:t>
            </a:r>
            <a:r>
              <a:rPr lang="en-IN" dirty="0"/>
              <a:t>(username): User </a:t>
            </a:r>
          </a:p>
          <a:p>
            <a:r>
              <a:rPr lang="en-IN" dirty="0" err="1"/>
              <a:t>saveUser</a:t>
            </a:r>
            <a:r>
              <a:rPr lang="en-IN" dirty="0"/>
              <a:t>(User)                                                </a:t>
            </a:r>
            <a:r>
              <a:rPr lang="en-IN" dirty="0" err="1"/>
              <a:t>updateUser</a:t>
            </a:r>
            <a:r>
              <a:rPr lang="en-IN" dirty="0"/>
              <a:t>(User)</a:t>
            </a:r>
          </a:p>
        </p:txBody>
      </p:sp>
    </p:spTree>
    <p:extLst>
      <p:ext uri="{BB962C8B-B14F-4D97-AF65-F5344CB8AC3E}">
        <p14:creationId xmlns:p14="http://schemas.microsoft.com/office/powerpoint/2010/main" val="322786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7EE2-4212-BC4B-561B-F6A61F7B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schema for module 1: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35264-0045-34D4-64AE-BD13EC6E9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users (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BIGINT PRIMARY KEY AUTO_INCREMENT,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Username VARCHAR(50) UNIQUE NOT NULL,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Email   VARCHAR(100) UNIQUE NOT NULL,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Password VARCHAR(255) NOT NULL,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Role VARCHAR(30),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BOOLEAN DEFAULT TRUE,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TIMESTAMP DEFAULT CURRENT_TIMESTAMP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);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422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EC16-E5CE-8212-A872-47DBD1DB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3A664-0194-35E4-E148-A5077A303937}"/>
              </a:ext>
            </a:extLst>
          </p:cNvPr>
          <p:cNvSpPr txBox="1"/>
          <p:nvPr/>
        </p:nvSpPr>
        <p:spPr>
          <a:xfrm>
            <a:off x="594732" y="1036714"/>
            <a:ext cx="3397405" cy="307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save (User)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findByUsername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DB operations on users</a:t>
            </a:r>
          </a:p>
          <a:p>
            <a:pPr marL="0" indent="0"/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User {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username;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email;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password;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role;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Boolean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isActive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706D8-D2FF-0647-9143-305A077D1A03}"/>
              </a:ext>
            </a:extLst>
          </p:cNvPr>
          <p:cNvSpPr txBox="1"/>
          <p:nvPr/>
        </p:nvSpPr>
        <p:spPr>
          <a:xfrm>
            <a:off x="5032917" y="951571"/>
            <a:ext cx="28472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login()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validatePassword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</a:t>
            </a: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/login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Receives requests &amp; sends responses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949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5CB858B4-472F-43D9-DEF7-1F09ADD0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>
            <a:extLst>
              <a:ext uri="{FF2B5EF4-FFF2-40B4-BE49-F238E27FC236}">
                <a16:creationId xmlns:a16="http://schemas.microsoft.com/office/drawing/2014/main" id="{D012BBFF-34A0-FA84-7755-4EB36B220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Google Shape;339;p41">
            <a:extLst>
              <a:ext uri="{FF2B5EF4-FFF2-40B4-BE49-F238E27FC236}">
                <a16:creationId xmlns:a16="http://schemas.microsoft.com/office/drawing/2014/main" id="{6C15FFB9-470E-1C36-1640-BB088D420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2846374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User</a:t>
            </a:r>
          </a:p>
          <a:p>
            <a:pPr marL="0" lvl="0" indent="0">
              <a:buNone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userld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marL="0" lvl="0" indent="0">
              <a:buNone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usemame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60484-C558-EA71-C515-DACA5BC31211}"/>
              </a:ext>
            </a:extLst>
          </p:cNvPr>
          <p:cNvSpPr txBox="1"/>
          <p:nvPr/>
        </p:nvSpPr>
        <p:spPr>
          <a:xfrm>
            <a:off x="5255942" y="1877762"/>
            <a:ext cx="33899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Save(User)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user in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finduser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(username)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user from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72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92529-857D-CCF9-D838-C3744BE767C4}"/>
              </a:ext>
            </a:extLst>
          </p:cNvPr>
          <p:cNvSpPr txBox="1"/>
          <p:nvPr/>
        </p:nvSpPr>
        <p:spPr>
          <a:xfrm>
            <a:off x="5360018" y="1017506"/>
            <a:ext cx="35981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signup(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signup(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AuthService.signini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forgot Password(email)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AuthService.forgot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Password(email)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56361-F563-B091-2C86-4318C9B0C4B2}"/>
              </a:ext>
            </a:extLst>
          </p:cNvPr>
          <p:cNvSpPr txBox="1"/>
          <p:nvPr/>
        </p:nvSpPr>
        <p:spPr>
          <a:xfrm>
            <a:off x="572429" y="519417"/>
            <a:ext cx="384345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signup(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  already exists THEN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show "User already exists”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save user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desails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show "Signup Successful”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END-FUNCTION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loginDetail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username and  password are correct THEN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generate login token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allow access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show “invalid login”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END-FUNCTION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forgot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Passediomaill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send reset link to email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"Email not fixed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43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Smart </a:t>
            </a:r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  <a:b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14027-C582-EAEB-A74D-D102E2FBABAA}"/>
              </a:ext>
            </a:extLst>
          </p:cNvPr>
          <p:cNvSpPr txBox="1"/>
          <p:nvPr/>
        </p:nvSpPr>
        <p:spPr>
          <a:xfrm>
            <a:off x="729450" y="2200507"/>
            <a:ext cx="7098706" cy="21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devices are registered with their configuration details in the system.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and manage all connected devices from the dashboard.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can be turned ON or OFF and controlled in real 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monitors and updates each device’s current status.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device lists and status information are displayed to the user.</a:t>
            </a:r>
          </a:p>
          <a:p>
            <a:endParaRPr lang="fr-FR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5214-AB47-1415-9911-38C548B8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 IN MODULE 2: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82CB9-654E-C018-6812-B878C54D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Device: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</a:rPr>
              <a:t>     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class stores device details, updates device information, and calculates estimated daily power usage</a:t>
            </a:r>
            <a:r>
              <a:rPr lang="en-US" dirty="0">
                <a:solidFill>
                  <a:schemeClr val="bg2"/>
                </a:solidFill>
              </a:rPr>
              <a:t>.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DeviceController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buNone/>
            </a:pPr>
            <a:r>
              <a:rPr lang="en-US" b="1" dirty="0"/>
              <a:t>    </a:t>
            </a:r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requests to add, update, delete, and view devices.</a:t>
            </a:r>
          </a:p>
          <a:p>
            <a:pPr marL="146050" indent="0">
              <a:buNone/>
            </a:pPr>
            <a:r>
              <a:rPr lang="en-IN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Validates device ownership, calculates energy consumption, and fetches user devices.</a:t>
            </a:r>
          </a:p>
          <a:p>
            <a:pPr marL="146050" indent="0">
              <a:buNone/>
            </a:pPr>
            <a:r>
              <a:rPr lang="en-IN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Manages saving, updating, deleting, and retrieving device data.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450B-6314-2DCF-3B8E-3FF5ACCC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03CE-7125-A345-A29A-DC631D44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IN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B7655-F2C3-A125-5CD6-B5387D44EBBF}"/>
              </a:ext>
            </a:extLst>
          </p:cNvPr>
          <p:cNvSpPr/>
          <p:nvPr/>
        </p:nvSpPr>
        <p:spPr>
          <a:xfrm>
            <a:off x="929268" y="2126208"/>
            <a:ext cx="2445834" cy="28675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461B06-44B7-C9BF-4E70-7AB7CF52FB56}"/>
              </a:ext>
            </a:extLst>
          </p:cNvPr>
          <p:cNvCxnSpPr/>
          <p:nvPr/>
        </p:nvCxnSpPr>
        <p:spPr>
          <a:xfrm>
            <a:off x="929268" y="2787805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40F34C-C104-CFCA-4B14-5556B416FCD1}"/>
              </a:ext>
            </a:extLst>
          </p:cNvPr>
          <p:cNvCxnSpPr/>
          <p:nvPr/>
        </p:nvCxnSpPr>
        <p:spPr>
          <a:xfrm>
            <a:off x="929268" y="4326673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ABBF79-433C-A655-EA35-DB9BCA91ACFA}"/>
              </a:ext>
            </a:extLst>
          </p:cNvPr>
          <p:cNvSpPr txBox="1"/>
          <p:nvPr/>
        </p:nvSpPr>
        <p:spPr>
          <a:xfrm>
            <a:off x="1672682" y="2340267"/>
            <a:ext cx="1702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D27D5-B8F5-2C66-C040-70737364AE57}"/>
              </a:ext>
            </a:extLst>
          </p:cNvPr>
          <p:cNvSpPr txBox="1"/>
          <p:nvPr/>
        </p:nvSpPr>
        <p:spPr>
          <a:xfrm>
            <a:off x="1397618" y="2890397"/>
            <a:ext cx="22525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deviceId</a:t>
            </a:r>
            <a:r>
              <a:rPr lang="en-IN" dirty="0"/>
              <a:t> : int     </a:t>
            </a:r>
          </a:p>
          <a:p>
            <a:r>
              <a:rPr lang="en-IN" dirty="0"/>
              <a:t>name : String      </a:t>
            </a:r>
          </a:p>
          <a:p>
            <a:r>
              <a:rPr lang="en-IN" dirty="0"/>
              <a:t>type : String      </a:t>
            </a:r>
          </a:p>
          <a:p>
            <a:r>
              <a:rPr lang="en-IN" dirty="0" err="1"/>
              <a:t>powerRating</a:t>
            </a:r>
            <a:r>
              <a:rPr lang="en-IN" dirty="0"/>
              <a:t> : float</a:t>
            </a:r>
          </a:p>
          <a:p>
            <a:r>
              <a:rPr lang="en-IN" dirty="0" err="1"/>
              <a:t>ownerId</a:t>
            </a:r>
            <a:r>
              <a:rPr lang="en-IN" dirty="0"/>
              <a:t> : int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A4181-4ADF-EE2D-39AC-2FEE8029D3D4}"/>
              </a:ext>
            </a:extLst>
          </p:cNvPr>
          <p:cNvSpPr txBox="1"/>
          <p:nvPr/>
        </p:nvSpPr>
        <p:spPr>
          <a:xfrm>
            <a:off x="1360448" y="4284749"/>
            <a:ext cx="20295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updateDeviceInfo</a:t>
            </a:r>
            <a:r>
              <a:rPr lang="en-IN" dirty="0"/>
              <a:t>() </a:t>
            </a:r>
          </a:p>
          <a:p>
            <a:r>
              <a:rPr lang="en-IN" dirty="0" err="1"/>
              <a:t>calculateEstimated</a:t>
            </a:r>
            <a:r>
              <a:rPr lang="en-IN" dirty="0"/>
              <a:t> </a:t>
            </a:r>
          </a:p>
          <a:p>
            <a:r>
              <a:rPr lang="en-IN" dirty="0" err="1"/>
              <a:t>DailyUsage</a:t>
            </a:r>
            <a:r>
              <a:rPr lang="en-IN" dirty="0"/>
              <a:t>()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49E47-0373-8B98-259B-1903C10AF61D}"/>
              </a:ext>
            </a:extLst>
          </p:cNvPr>
          <p:cNvSpPr/>
          <p:nvPr/>
        </p:nvSpPr>
        <p:spPr>
          <a:xfrm>
            <a:off x="5382321" y="2126208"/>
            <a:ext cx="2676293" cy="2326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0E38AA-827B-6032-5738-68CD76C2861F}"/>
              </a:ext>
            </a:extLst>
          </p:cNvPr>
          <p:cNvCxnSpPr/>
          <p:nvPr/>
        </p:nvCxnSpPr>
        <p:spPr>
          <a:xfrm>
            <a:off x="5382321" y="2787805"/>
            <a:ext cx="26762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A359B-B49F-1407-EAA4-E1AE063B35C6}"/>
              </a:ext>
            </a:extLst>
          </p:cNvPr>
          <p:cNvSpPr txBox="1"/>
          <p:nvPr/>
        </p:nvSpPr>
        <p:spPr>
          <a:xfrm>
            <a:off x="5872977" y="2323938"/>
            <a:ext cx="2341755" cy="307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DeviceController</a:t>
            </a:r>
            <a:r>
              <a:rPr lang="en-IN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61C12-8BE0-E5A9-081C-A6E9FBFB1900}"/>
              </a:ext>
            </a:extLst>
          </p:cNvPr>
          <p:cNvSpPr txBox="1"/>
          <p:nvPr/>
        </p:nvSpPr>
        <p:spPr>
          <a:xfrm>
            <a:off x="5668536" y="3025698"/>
            <a:ext cx="2445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addDevice</a:t>
            </a:r>
            <a:r>
              <a:rPr lang="en-IN" dirty="0"/>
              <a:t>(Device)        </a:t>
            </a:r>
          </a:p>
          <a:p>
            <a:r>
              <a:rPr lang="en-IN" dirty="0" err="1"/>
              <a:t>updateDevice</a:t>
            </a:r>
            <a:r>
              <a:rPr lang="en-IN" dirty="0"/>
              <a:t>(id, Device) </a:t>
            </a:r>
            <a:r>
              <a:rPr lang="en-IN" dirty="0" err="1"/>
              <a:t>deleteDevice</a:t>
            </a:r>
            <a:r>
              <a:rPr lang="en-IN" dirty="0"/>
              <a:t>(id)         </a:t>
            </a:r>
          </a:p>
          <a:p>
            <a:r>
              <a:rPr lang="en-IN" dirty="0" err="1"/>
              <a:t>getDeviceList</a:t>
            </a:r>
            <a:r>
              <a:rPr lang="en-IN" dirty="0"/>
              <a:t>(</a:t>
            </a:r>
            <a:r>
              <a:rPr lang="en-IN" dirty="0" err="1"/>
              <a:t>ownerId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02483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92F9-C5B3-FFAD-8B6A-70F9D0B5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91CBB-7757-FDBA-57EF-C85C3D569F83}"/>
              </a:ext>
            </a:extLst>
          </p:cNvPr>
          <p:cNvSpPr/>
          <p:nvPr/>
        </p:nvSpPr>
        <p:spPr>
          <a:xfrm>
            <a:off x="765717" y="1598341"/>
            <a:ext cx="3003395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CCBFD-A733-D878-676D-114A93B8611C}"/>
              </a:ext>
            </a:extLst>
          </p:cNvPr>
          <p:cNvSpPr/>
          <p:nvPr/>
        </p:nvSpPr>
        <p:spPr>
          <a:xfrm>
            <a:off x="4980878" y="1598340"/>
            <a:ext cx="3055434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0FD2C8-3E80-2225-7B90-3AE80D5663BC}"/>
              </a:ext>
            </a:extLst>
          </p:cNvPr>
          <p:cNvCxnSpPr/>
          <p:nvPr/>
        </p:nvCxnSpPr>
        <p:spPr>
          <a:xfrm>
            <a:off x="765717" y="2155902"/>
            <a:ext cx="3003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F73A72-9A2F-3E0F-ACFD-58E67569EF10}"/>
              </a:ext>
            </a:extLst>
          </p:cNvPr>
          <p:cNvCxnSpPr/>
          <p:nvPr/>
        </p:nvCxnSpPr>
        <p:spPr>
          <a:xfrm>
            <a:off x="4980878" y="2155902"/>
            <a:ext cx="3055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43AF53-A4B6-B7FD-6BB7-AA9D2C50C44A}"/>
              </a:ext>
            </a:extLst>
          </p:cNvPr>
          <p:cNvSpPr txBox="1"/>
          <p:nvPr/>
        </p:nvSpPr>
        <p:spPr>
          <a:xfrm>
            <a:off x="1353015" y="1723233"/>
            <a:ext cx="2572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DeviceService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E4B8E-604A-6D57-FE57-221F0ADD193F}"/>
              </a:ext>
            </a:extLst>
          </p:cNvPr>
          <p:cNvSpPr txBox="1"/>
          <p:nvPr/>
        </p:nvSpPr>
        <p:spPr>
          <a:xfrm>
            <a:off x="973873" y="2349190"/>
            <a:ext cx="26465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validateOwnership</a:t>
            </a:r>
            <a:r>
              <a:rPr lang="en-IN" dirty="0"/>
              <a:t>(</a:t>
            </a:r>
            <a:r>
              <a:rPr lang="en-IN" dirty="0" err="1"/>
              <a:t>userId</a:t>
            </a:r>
            <a:r>
              <a:rPr lang="en-IN" dirty="0"/>
              <a:t>, </a:t>
            </a:r>
            <a:r>
              <a:rPr lang="en-IN" dirty="0" err="1"/>
              <a:t>deviceId</a:t>
            </a:r>
            <a:r>
              <a:rPr lang="en-IN" dirty="0"/>
              <a:t>)                 </a:t>
            </a:r>
          </a:p>
          <a:p>
            <a:r>
              <a:rPr lang="en-IN" dirty="0" err="1"/>
              <a:t>computeDeviceConsumption</a:t>
            </a:r>
            <a:r>
              <a:rPr lang="en-IN" dirty="0"/>
              <a:t>(id)</a:t>
            </a:r>
          </a:p>
          <a:p>
            <a:r>
              <a:rPr lang="en-IN" dirty="0" err="1"/>
              <a:t>getDevicesByUser</a:t>
            </a:r>
            <a:r>
              <a:rPr lang="en-IN" dirty="0"/>
              <a:t>(</a:t>
            </a:r>
            <a:r>
              <a:rPr lang="en-IN" dirty="0" err="1"/>
              <a:t>ownerId</a:t>
            </a:r>
            <a:r>
              <a:rPr lang="en-IN" dirty="0"/>
              <a:t>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2F00D-E58A-7147-C948-DB81023EE8FB}"/>
              </a:ext>
            </a:extLst>
          </p:cNvPr>
          <p:cNvSpPr txBox="1"/>
          <p:nvPr/>
        </p:nvSpPr>
        <p:spPr>
          <a:xfrm>
            <a:off x="5560741" y="1729178"/>
            <a:ext cx="247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DeviceRepository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BE109-DF1F-ED26-D02D-ED6AFEB2406B}"/>
              </a:ext>
            </a:extLst>
          </p:cNvPr>
          <p:cNvSpPr txBox="1"/>
          <p:nvPr/>
        </p:nvSpPr>
        <p:spPr>
          <a:xfrm>
            <a:off x="5114693" y="2416098"/>
            <a:ext cx="2795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saveDevice</a:t>
            </a:r>
            <a:r>
              <a:rPr lang="en-IN" dirty="0"/>
              <a:t>(Device)       </a:t>
            </a:r>
          </a:p>
          <a:p>
            <a:r>
              <a:rPr lang="en-IN" dirty="0" err="1"/>
              <a:t>getDeviceById</a:t>
            </a:r>
            <a:r>
              <a:rPr lang="en-IN" dirty="0"/>
              <a:t>(id):Device </a:t>
            </a:r>
          </a:p>
          <a:p>
            <a:r>
              <a:rPr lang="en-IN" dirty="0" err="1"/>
              <a:t>updateDevice</a:t>
            </a:r>
            <a:r>
              <a:rPr lang="en-IN" dirty="0"/>
              <a:t>(Device)    </a:t>
            </a:r>
          </a:p>
          <a:p>
            <a:r>
              <a:rPr lang="en-IN" dirty="0" err="1"/>
              <a:t>deleteDevice</a:t>
            </a:r>
            <a:r>
              <a:rPr lang="en-IN" dirty="0"/>
              <a:t>(id) </a:t>
            </a:r>
          </a:p>
        </p:txBody>
      </p:sp>
    </p:spTree>
    <p:extLst>
      <p:ext uri="{BB962C8B-B14F-4D97-AF65-F5344CB8AC3E}">
        <p14:creationId xmlns:p14="http://schemas.microsoft.com/office/powerpoint/2010/main" val="317277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2010-27C0-E346-A469-BBF609A4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3150-5117-EFCB-C5DE-295D18F7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schema for module 2: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C174A-8184-9E22-6B8B-45F22EE9B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devices (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device_id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BIGINT PRIMARY KEY AUTO_INCREMENT,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device_name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VARCHAR(100) NOT NULL,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device_type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Sensorstatus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VARCHAR(20),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OFFlocation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VARCHAR(100),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nameip_address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TEXT,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last_updated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TIMESTAMP DEFAULT CURRENT_TIMESTAMP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71858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EB7A-9A67-3BC5-5A07-4F3AC937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FD352-F499-CAFF-E324-B9FE350C29E1}"/>
              </a:ext>
            </a:extLst>
          </p:cNvPr>
          <p:cNvSpPr txBox="1"/>
          <p:nvPr/>
        </p:nvSpPr>
        <p:spPr>
          <a:xfrm>
            <a:off x="557561" y="802035"/>
            <a:ext cx="3397405" cy="325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Device {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deviceName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deviceType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status;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location;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ipAddress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config;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(Device)</a:t>
            </a:r>
          </a:p>
          <a:p>
            <a:r>
              <a:rPr lang="en-US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3E1F1-538E-E432-81B4-5EBE00E32FF3}"/>
              </a:ext>
            </a:extLst>
          </p:cNvPr>
          <p:cNvSpPr txBox="1"/>
          <p:nvPr/>
        </p:nvSpPr>
        <p:spPr>
          <a:xfrm>
            <a:off x="5032917" y="951571"/>
            <a:ext cx="28472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updateStatus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DeviceController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toggleDevice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751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Google Shape;339;p4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SmartDevice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deviceliane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deviceType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powerus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createDevice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(id, name, type,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роwеr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id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devicename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name 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deviceType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=type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powerUsage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power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status OFF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 END CLASS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9631C-D2A6-0B7F-1261-350B0DC271FC}"/>
              </a:ext>
            </a:extLst>
          </p:cNvPr>
          <p:cNvSpPr txBox="1"/>
          <p:nvPr/>
        </p:nvSpPr>
        <p:spPr>
          <a:xfrm>
            <a:off x="401444" y="944137"/>
            <a:ext cx="83188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saveDevice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 to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INSERT device details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CLOSE connection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FindDevice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 to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SEARCH device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device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CLOSE connection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</p:txBody>
      </p:sp>
    </p:spTree>
    <p:extLst>
      <p:ext uri="{BB962C8B-B14F-4D97-AF65-F5344CB8AC3E}">
        <p14:creationId xmlns:p14="http://schemas.microsoft.com/office/powerpoint/2010/main" val="1466170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EA11-544D-5FB2-C9F7-DBF2EAC1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A994BF-1161-861C-CBF2-0F42DC10702B}"/>
              </a:ext>
            </a:extLst>
          </p:cNvPr>
          <p:cNvSpPr txBox="1"/>
          <p:nvPr/>
        </p:nvSpPr>
        <p:spPr>
          <a:xfrm>
            <a:off x="557561" y="802035"/>
            <a:ext cx="8318810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deviceRepository.saveDevice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DISPLAY "Device added successfully"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device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deviceRepository.findDevice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device.status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DISPLAY "Device turned ON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turnoff(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device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deviceRepository.findDevice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device.status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OFF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 "Device turned OFF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 END CLASS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87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185A-4B2D-2351-3A6E-BF60E2BA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E9AC1-A9B6-A189-B04F-AF6C714267FA}"/>
              </a:ext>
            </a:extLst>
          </p:cNvPr>
          <p:cNvSpPr txBox="1"/>
          <p:nvPr/>
        </p:nvSpPr>
        <p:spPr>
          <a:xfrm>
            <a:off x="557561" y="802035"/>
            <a:ext cx="83188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DeviceController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deviceService.addDevice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deviceService.turnOn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deviceService.turnOff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3658660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F26F8D-6346-63E1-F1D7-79F317C9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09" y="498088"/>
            <a:ext cx="8057416" cy="450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0170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1313</Words>
  <Application>Microsoft Office PowerPoint</Application>
  <PresentationFormat>On-screen Show (16:9)</PresentationFormat>
  <Paragraphs>284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Raleway</vt:lpstr>
      <vt:lpstr>Times New Roman</vt:lpstr>
      <vt:lpstr>Lato</vt:lpstr>
      <vt:lpstr>Wingdings</vt:lpstr>
      <vt:lpstr>Streamline</vt:lpstr>
      <vt:lpstr>Smart Home  Energy Management System</vt:lpstr>
      <vt:lpstr>                         Meaning of the Title</vt:lpstr>
      <vt:lpstr>NUMBER OF MODULES AND WORK OF EACH MODULE</vt:lpstr>
      <vt:lpstr>SYSTEM  ARCHITECTURE</vt:lpstr>
      <vt:lpstr>Module 1-Authentication &amp; Role Management:</vt:lpstr>
      <vt:lpstr>NUMBER OF CLASSES IN MODULE 1:</vt:lpstr>
      <vt:lpstr>Class diagram </vt:lpstr>
      <vt:lpstr>PowerPoint Presentation</vt:lpstr>
      <vt:lpstr>Db schema for module 1:</vt:lpstr>
      <vt:lpstr>PowerPoint Presentation</vt:lpstr>
      <vt:lpstr>Pseudocode</vt:lpstr>
      <vt:lpstr>PowerPoint Presentation</vt:lpstr>
      <vt:lpstr>Module 2: Smart Device Management   </vt:lpstr>
      <vt:lpstr>NUMBER OF CLASSES IN MODULE 2:</vt:lpstr>
      <vt:lpstr>Class diagram </vt:lpstr>
      <vt:lpstr>PowerPoint Presentation</vt:lpstr>
      <vt:lpstr>Db schema for module 2:</vt:lpstr>
      <vt:lpstr>PowerPoint Presentation</vt:lpstr>
      <vt:lpstr>Pseudocode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VAISHNAVI</dc:creator>
  <cp:lastModifiedBy>vaishnavi m</cp:lastModifiedBy>
  <cp:revision>2</cp:revision>
  <dcterms:modified xsi:type="dcterms:W3CDTF">2025-12-24T07:45:35Z</dcterms:modified>
</cp:coreProperties>
</file>