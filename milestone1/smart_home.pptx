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3" r:id="rId1"/>
  </p:sldMasterIdLst>
  <p:notesMasterIdLst>
    <p:notesMasterId r:id="rId33"/>
  </p:notesMasterIdLst>
  <p:sldIdLst>
    <p:sldId id="256" r:id="rId2"/>
    <p:sldId id="264" r:id="rId3"/>
    <p:sldId id="267" r:id="rId4"/>
    <p:sldId id="263" r:id="rId5"/>
    <p:sldId id="268" r:id="rId6"/>
    <p:sldId id="277" r:id="rId7"/>
    <p:sldId id="281" r:id="rId8"/>
    <p:sldId id="282" r:id="rId9"/>
    <p:sldId id="283" r:id="rId10"/>
    <p:sldId id="294" r:id="rId11"/>
    <p:sldId id="295" r:id="rId12"/>
    <p:sldId id="296" r:id="rId13"/>
    <p:sldId id="278" r:id="rId14"/>
    <p:sldId id="285" r:id="rId15"/>
    <p:sldId id="286" r:id="rId16"/>
    <p:sldId id="287" r:id="rId17"/>
    <p:sldId id="288" r:id="rId18"/>
    <p:sldId id="293" r:id="rId19"/>
    <p:sldId id="280" r:id="rId20"/>
    <p:sldId id="290" r:id="rId21"/>
    <p:sldId id="291" r:id="rId22"/>
    <p:sldId id="292" r:id="rId23"/>
    <p:sldId id="298" r:id="rId24"/>
    <p:sldId id="299" r:id="rId25"/>
    <p:sldId id="300" r:id="rId26"/>
    <p:sldId id="301" r:id="rId27"/>
    <p:sldId id="304" r:id="rId28"/>
    <p:sldId id="305" r:id="rId29"/>
    <p:sldId id="302" r:id="rId30"/>
    <p:sldId id="303" r:id="rId31"/>
    <p:sldId id="297" r:id="rId32"/>
  </p:sldIdLst>
  <p:sldSz cx="9144000" cy="5143500" type="screen16x9"/>
  <p:notesSz cx="6858000" cy="9144000"/>
  <p:embeddedFontLst>
    <p:embeddedFont>
      <p:font typeface="Lato" panose="020F0502020204030203" pitchFamily="34" charset="0"/>
      <p:regular r:id="rId34"/>
      <p:bold r:id="rId35"/>
      <p:italic r:id="rId36"/>
      <p:boldItalic r:id="rId37"/>
    </p:embeddedFont>
    <p:embeddedFont>
      <p:font typeface="Raleway" pitchFamily="2" charset="0"/>
      <p:regular r:id="rId38"/>
      <p:bold r:id="rId39"/>
      <p:italic r:id="rId40"/>
      <p:boldItalic r:id="rId4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7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6.fntdata"/><Relationship Id="rId21" Type="http://schemas.openxmlformats.org/officeDocument/2006/relationships/slide" Target="slides/slide20.xml"/><Relationship Id="rId34" Type="http://schemas.openxmlformats.org/officeDocument/2006/relationships/font" Target="fonts/font1.fntdata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font" Target="fonts/font4.fntdata"/><Relationship Id="rId40" Type="http://schemas.openxmlformats.org/officeDocument/2006/relationships/font" Target="fonts/font7.fntdata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2.fntdata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openxmlformats.org/officeDocument/2006/relationships/font" Target="fonts/font5.fntdata"/><Relationship Id="rId20" Type="http://schemas.openxmlformats.org/officeDocument/2006/relationships/slide" Target="slides/slide19.xml"/><Relationship Id="rId41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25f6af9dd6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25f6af9dd6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246ee7dff8_1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" name="Google Shape;194;g246ee7dff8_1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251622d556_0_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Google Shape;211;g251622d556_0_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25430e6bdd_5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25430e6bdd_5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251622d556_0_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" name="Google Shape;217;g251622d556_0_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251e213838_1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1" name="Google Shape;291;g251e213838_1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4">
          <a:extLst>
            <a:ext uri="{FF2B5EF4-FFF2-40B4-BE49-F238E27FC236}">
              <a16:creationId xmlns:a16="http://schemas.microsoft.com/office/drawing/2014/main" id="{E066E806-EEDA-B640-1842-02221403C0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g1d9c67055b_0_154:notes">
            <a:extLst>
              <a:ext uri="{FF2B5EF4-FFF2-40B4-BE49-F238E27FC236}">
                <a16:creationId xmlns:a16="http://schemas.microsoft.com/office/drawing/2014/main" id="{7CCD9DC9-2A78-A1BD-16E2-9C254AA46B3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6" name="Google Shape;336;g1d9c67055b_0_154:notes">
            <a:extLst>
              <a:ext uri="{FF2B5EF4-FFF2-40B4-BE49-F238E27FC236}">
                <a16:creationId xmlns:a16="http://schemas.microsoft.com/office/drawing/2014/main" id="{5AE34BD4-F73B-30FF-4E3D-D1745B6D99B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56949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246ee7dff8_1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7" name="Google Shape;297;g246ee7dff8_1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g1d9c67055b_0_1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6" name="Google Shape;336;g1d9c67055b_0_1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5">
          <a:extLst>
            <a:ext uri="{FF2B5EF4-FFF2-40B4-BE49-F238E27FC236}">
              <a16:creationId xmlns:a16="http://schemas.microsoft.com/office/drawing/2014/main" id="{32189684-C7E4-3530-1739-EB5C033B24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246ee7dff8_1_5:notes">
            <a:extLst>
              <a:ext uri="{FF2B5EF4-FFF2-40B4-BE49-F238E27FC236}">
                <a16:creationId xmlns:a16="http://schemas.microsoft.com/office/drawing/2014/main" id="{81B1ACE3-A7E6-0B1A-3315-F24495F03AA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7" name="Google Shape;297;g246ee7dff8_1_5:notes">
            <a:extLst>
              <a:ext uri="{FF2B5EF4-FFF2-40B4-BE49-F238E27FC236}">
                <a16:creationId xmlns:a16="http://schemas.microsoft.com/office/drawing/2014/main" id="{C754122E-0ACF-94DF-2FCB-30E90E5CC69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730708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lt2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729450" y="1322450"/>
            <a:ext cx="3787800" cy="1988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729595" y="3401500"/>
            <a:ext cx="3787800" cy="5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13" name="Google Shape;13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4" name="Google Shape;14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" name="Google Shape;16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 1">
  <p:cSld name="TITLE_1">
    <p:bg>
      <p:bgPr>
        <a:solidFill>
          <a:schemeClr val="lt2"/>
        </a:solidFill>
        <a:effectLst/>
      </p:bgPr>
    </p:bg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>
            <a:spLocks noGrp="1"/>
          </p:cNvSpPr>
          <p:nvPr>
            <p:ph type="ctrTitle"/>
          </p:nvPr>
        </p:nvSpPr>
        <p:spPr>
          <a:xfrm>
            <a:off x="729450" y="1322450"/>
            <a:ext cx="3787800" cy="1988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subTitle" idx="1"/>
          </p:nvPr>
        </p:nvSpPr>
        <p:spPr>
          <a:xfrm>
            <a:off x="729595" y="3401500"/>
            <a:ext cx="3787800" cy="5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21" name="Google Shape;21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2" name="Google Shape;22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4" name="Google Shape;24;p3"/>
          <p:cNvSpPr/>
          <p:nvPr/>
        </p:nvSpPr>
        <p:spPr>
          <a:xfrm>
            <a:off x="0" y="1"/>
            <a:ext cx="9144000" cy="467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5" name="Google Shape;25;p3"/>
          <p:cNvGrpSpPr/>
          <p:nvPr/>
        </p:nvGrpSpPr>
        <p:grpSpPr>
          <a:xfrm>
            <a:off x="5063224" y="1313339"/>
            <a:ext cx="3459829" cy="2670551"/>
            <a:chOff x="3553042" y="1657806"/>
            <a:chExt cx="3461100" cy="2671532"/>
          </a:xfrm>
        </p:grpSpPr>
        <p:sp>
          <p:nvSpPr>
            <p:cNvPr id="26" name="Google Shape;26;p3"/>
            <p:cNvSpPr/>
            <p:nvPr/>
          </p:nvSpPr>
          <p:spPr>
            <a:xfrm>
              <a:off x="4856024" y="3625653"/>
              <a:ext cx="944700" cy="663300"/>
            </a:xfrm>
            <a:prstGeom prst="trapezoid">
              <a:avLst>
                <a:gd name="adj" fmla="val 25000"/>
              </a:avLst>
            </a:prstGeom>
            <a:solidFill>
              <a:srgbClr val="CCCC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10800000">
              <a:off x="4953871" y="3681997"/>
              <a:ext cx="400200" cy="606600"/>
            </a:xfrm>
            <a:prstGeom prst="triangle">
              <a:avLst>
                <a:gd name="adj" fmla="val 96745"/>
              </a:avLst>
            </a:prstGeom>
            <a:solidFill>
              <a:srgbClr val="99999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>
              <a:off x="4767796" y="3681816"/>
              <a:ext cx="163500" cy="606600"/>
            </a:xfrm>
            <a:prstGeom prst="triangle">
              <a:avLst>
                <a:gd name="adj" fmla="val 98558"/>
              </a:avLst>
            </a:prstGeom>
            <a:solidFill>
              <a:srgbClr val="99999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10800000">
              <a:off x="4678237" y="4276102"/>
              <a:ext cx="1210800" cy="4560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rot="10800000">
              <a:off x="4668343" y="4283738"/>
              <a:ext cx="1230600" cy="45600"/>
            </a:xfrm>
            <a:prstGeom prst="roundRect">
              <a:avLst>
                <a:gd name="adj" fmla="val 50000"/>
              </a:avLst>
            </a:prstGeom>
            <a:solidFill>
              <a:srgbClr val="B7B7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>
              <a:off x="4926950" y="3681915"/>
              <a:ext cx="42900" cy="594300"/>
            </a:xfrm>
            <a:prstGeom prst="rect">
              <a:avLst/>
            </a:prstGeom>
            <a:solidFill>
              <a:srgbClr val="99999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>
              <a:off x="3553042" y="1674645"/>
              <a:ext cx="3461100" cy="2014500"/>
            </a:xfrm>
            <a:prstGeom prst="roundRect">
              <a:avLst>
                <a:gd name="adj" fmla="val 1882"/>
              </a:avLst>
            </a:prstGeom>
            <a:solidFill>
              <a:srgbClr val="6666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>
              <a:off x="3553042" y="1657806"/>
              <a:ext cx="3461100" cy="2014500"/>
            </a:xfrm>
            <a:prstGeom prst="roundRect">
              <a:avLst>
                <a:gd name="adj" fmla="val 1764"/>
              </a:avLst>
            </a:pr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34" name="Google Shape;34;p3" descr="Component Detail"/>
          <p:cNvPicPr preferRelativeResize="0"/>
          <p:nvPr/>
        </p:nvPicPr>
        <p:blipFill rotWithShape="1">
          <a:blip r:embed="rId2">
            <a:alphaModFix/>
          </a:blip>
          <a:srcRect b="25076"/>
          <a:stretch/>
        </p:blipFill>
        <p:spPr>
          <a:xfrm>
            <a:off x="5161725" y="1399791"/>
            <a:ext cx="3262825" cy="1833425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3"/>
          <p:cNvSpPr/>
          <p:nvPr/>
        </p:nvSpPr>
        <p:spPr>
          <a:xfrm flipH="1">
            <a:off x="5156196" y="1401826"/>
            <a:ext cx="3268577" cy="1812993"/>
          </a:xfrm>
          <a:prstGeom prst="rtTriangle">
            <a:avLst/>
          </a:prstGeom>
          <a:solidFill>
            <a:srgbClr val="000000">
              <a:alpha val="30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6" name="Google Shape;36;p3"/>
          <p:cNvGrpSpPr/>
          <p:nvPr/>
        </p:nvGrpSpPr>
        <p:grpSpPr>
          <a:xfrm>
            <a:off x="7666681" y="2077877"/>
            <a:ext cx="1148179" cy="2282764"/>
            <a:chOff x="7666681" y="2077877"/>
            <a:chExt cx="1148179" cy="2282764"/>
          </a:xfrm>
        </p:grpSpPr>
        <p:grpSp>
          <p:nvGrpSpPr>
            <p:cNvPr id="37" name="Google Shape;37;p3"/>
            <p:cNvGrpSpPr/>
            <p:nvPr/>
          </p:nvGrpSpPr>
          <p:grpSpPr>
            <a:xfrm>
              <a:off x="7666681" y="2077877"/>
              <a:ext cx="1148179" cy="2282764"/>
              <a:chOff x="3983627" y="1676395"/>
              <a:chExt cx="1449538" cy="2881914"/>
            </a:xfrm>
          </p:grpSpPr>
          <p:sp>
            <p:nvSpPr>
              <p:cNvPr id="38" name="Google Shape;38;p3"/>
              <p:cNvSpPr/>
              <p:nvPr/>
            </p:nvSpPr>
            <p:spPr>
              <a:xfrm rot="-5400000">
                <a:off x="3276827" y="2404608"/>
                <a:ext cx="2860500" cy="1446900"/>
              </a:xfrm>
              <a:prstGeom prst="roundRect">
                <a:avLst>
                  <a:gd name="adj" fmla="val 4551"/>
                </a:avLst>
              </a:prstGeom>
              <a:solidFill>
                <a:srgbClr val="66666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" name="Google Shape;39;p3"/>
              <p:cNvSpPr/>
              <p:nvPr/>
            </p:nvSpPr>
            <p:spPr>
              <a:xfrm rot="-5400000">
                <a:off x="3279465" y="2383195"/>
                <a:ext cx="2860500" cy="1446900"/>
              </a:xfrm>
              <a:prstGeom prst="roundRect">
                <a:avLst>
                  <a:gd name="adj" fmla="val 4551"/>
                </a:avLst>
              </a:prstGeom>
              <a:solidFill>
                <a:srgbClr val="33333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" name="Google Shape;40;p3"/>
              <p:cNvSpPr/>
              <p:nvPr/>
            </p:nvSpPr>
            <p:spPr>
              <a:xfrm>
                <a:off x="4473243" y="4318802"/>
                <a:ext cx="472800" cy="76800"/>
              </a:xfrm>
              <a:prstGeom prst="roundRect">
                <a:avLst>
                  <a:gd name="adj" fmla="val 50000"/>
                </a:avLst>
              </a:prstGeom>
              <a:solidFill>
                <a:srgbClr val="4B4B4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pic>
          <p:nvPicPr>
            <p:cNvPr id="41" name="Google Shape;41;p3" descr="Mobile View"/>
            <p:cNvPicPr preferRelativeResize="0"/>
            <p:nvPr/>
          </p:nvPicPr>
          <p:blipFill rotWithShape="1">
            <a:blip r:embed="rId3">
              <a:alphaModFix/>
            </a:blip>
            <a:srcRect t="4362" b="4371"/>
            <a:stretch/>
          </p:blipFill>
          <p:spPr>
            <a:xfrm>
              <a:off x="7720839" y="2222723"/>
              <a:ext cx="1037555" cy="183341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" name="Google Shape;42;p3"/>
            <p:cNvSpPr/>
            <p:nvPr/>
          </p:nvSpPr>
          <p:spPr>
            <a:xfrm flipH="1">
              <a:off x="7722342" y="2222973"/>
              <a:ext cx="1037700" cy="1833000"/>
            </a:xfrm>
            <a:prstGeom prst="rtTriangle">
              <a:avLst/>
            </a:prstGeom>
            <a:solidFill>
              <a:srgbClr val="000000">
                <a:alpha val="30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1" name="Google Shape;51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2" name="Google Shape;52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53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4" name="Google Shape;54;p5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55" name="Google Shape;55;p5"/>
          <p:cNvSpPr txBox="1">
            <a:spLocks noGrp="1"/>
          </p:cNvSpPr>
          <p:nvPr>
            <p:ph type="body" idx="1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56" name="Google Shape;56;p5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9" name="Google Shape;59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0" name="Google Shape;60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61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2" name="Google Shape;62;p6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63" name="Google Shape;63;p6"/>
          <p:cNvSpPr txBox="1">
            <a:spLocks noGrp="1"/>
          </p:cNvSpPr>
          <p:nvPr>
            <p:ph type="body" idx="1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64" name="Google Shape;64;p6"/>
          <p:cNvSpPr txBox="1">
            <a:spLocks noGrp="1"/>
          </p:cNvSpPr>
          <p:nvPr>
            <p:ph type="body" idx="2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65" name="Google Shape;65;p6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8" name="Google Shape;68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9" name="Google Shape;69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Google Shape;70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1" name="Google Shape;71;p7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72" name="Google Shape;72;p7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TITLE_ONLY_1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8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" name="Google Shape;75;p8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9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8" name="Google Shape;78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79" name="Google Shape;79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80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1" name="Google Shape;81;p9"/>
          <p:cNvSpPr txBox="1">
            <a:spLocks noGrp="1"/>
          </p:cNvSpPr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2" name="Google Shape;82;p9"/>
          <p:cNvSpPr txBox="1">
            <a:spLocks noGrp="1"/>
          </p:cNvSpPr>
          <p:nvPr>
            <p:ph type="body" idx="1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83" name="Google Shape;83;p9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1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2" name="Google Shape;92;p11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93" name="Google Shape;93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94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5" name="Google Shape;95;p11"/>
          <p:cNvSpPr txBox="1">
            <a:spLocks noGrp="1"/>
          </p:cNvSpPr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96" name="Google Shape;96;p11"/>
          <p:cNvSpPr txBox="1">
            <a:spLocks noGrp="1"/>
          </p:cNvSpPr>
          <p:nvPr>
            <p:ph type="subTitle" idx="1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97" name="Google Shape;97;p11"/>
          <p:cNvSpPr txBox="1">
            <a:spLocks noGrp="1"/>
          </p:cNvSpPr>
          <p:nvPr>
            <p:ph type="body" idx="2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98" name="Google Shape;98;p11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solidFill>
          <a:schemeClr val="dk1"/>
        </a:solidFill>
        <a:effectLst/>
      </p:bgPr>
    </p:bg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3" name="Google Shape;123;p15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124" name="Google Shape;124;p1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" name="Google Shape;125;p1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6" name="Google Shape;126;p15"/>
          <p:cNvSpPr txBox="1">
            <a:spLocks noGrp="1"/>
          </p:cNvSpPr>
          <p:nvPr>
            <p:ph type="title" hasCustomPrompt="1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27" name="Google Shape;127;p15"/>
          <p:cNvSpPr txBox="1">
            <a:spLocks noGrp="1"/>
          </p:cNvSpPr>
          <p:nvPr>
            <p:ph type="body" idx="1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marL="914400" lvl="1" indent="-29845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marL="1371600" lvl="2" indent="-29845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marL="1828800" lvl="3" indent="-29845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marL="2286000" lvl="4" indent="-29845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marL="2743200" lvl="5" indent="-29845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marL="3200400" lvl="6" indent="-29845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marL="3657600" lvl="7" indent="-29845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marL="4114800" lvl="8" indent="-29845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28" name="Google Shape;128;p15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treamline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sz="2800" b="1"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sz="2800" b="1"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sz="2800" b="1"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sz="2800" b="1"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sz="2800" b="1"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sz="2800" b="1"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sz="2800" b="1"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sz="2800" b="1"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sz="28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11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lvl="1" indent="-29845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lvl="2" indent="-29845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lvl="3" indent="-29845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lvl="4" indent="-29845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lvl="5" indent="-29845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lvl="6" indent="-29845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lvl="7" indent="-29845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lvl="8" indent="-29845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7" r:id="rId8"/>
    <p:sldLayoutId id="2147483661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7"/>
          <p:cNvSpPr txBox="1">
            <a:spLocks noGrp="1"/>
          </p:cNvSpPr>
          <p:nvPr>
            <p:ph type="ctrTitle"/>
          </p:nvPr>
        </p:nvSpPr>
        <p:spPr>
          <a:xfrm>
            <a:off x="729450" y="1322450"/>
            <a:ext cx="3787800" cy="144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 Home 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Energy Management System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9" name="Google Shape;139;p17"/>
          <p:cNvSpPr txBox="1">
            <a:spLocks noGrp="1"/>
          </p:cNvSpPr>
          <p:nvPr>
            <p:ph type="subTitle" idx="1"/>
          </p:nvPr>
        </p:nvSpPr>
        <p:spPr>
          <a:xfrm>
            <a:off x="729600" y="2921750"/>
            <a:ext cx="3787800" cy="82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By Vaishnavi M</a:t>
            </a:r>
            <a:endParaRPr lang="en-I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4A062F1-2ABA-DA90-6D8C-13B997642F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535259"/>
            <a:ext cx="4507804" cy="452739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5"/>
          <p:cNvSpPr txBox="1">
            <a:spLocks noGrp="1"/>
          </p:cNvSpPr>
          <p:nvPr>
            <p:ph type="body" idx="1"/>
          </p:nvPr>
        </p:nvSpPr>
        <p:spPr>
          <a:xfrm>
            <a:off x="1308410" y="2078875"/>
            <a:ext cx="6579219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4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Smart Home Energy Management System (SHEMS) is an intelligent automation platform that monitors, controls, and optimizes the energy consumption of household electrical devices.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4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 increases comfort while reducing electricity bills through data analytics and smart decision-making.</a:t>
            </a:r>
            <a:endParaRPr lang="en-IN" sz="1400" dirty="0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 dirty="0"/>
          </a:p>
        </p:txBody>
      </p:sp>
      <p:sp>
        <p:nvSpPr>
          <p:cNvPr id="197" name="Google Shape;197;p25"/>
          <p:cNvSpPr txBox="1">
            <a:spLocks noGrp="1"/>
          </p:cNvSpPr>
          <p:nvPr>
            <p:ph type="title"/>
          </p:nvPr>
        </p:nvSpPr>
        <p:spPr>
          <a:xfrm>
            <a:off x="573332" y="1363256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IN" sz="2800" dirty="0">
                <a:solidFill>
                  <a:schemeClr val="bg2">
                    <a:lumMod val="90000"/>
                    <a:lumOff val="10000"/>
                  </a:schemeClr>
                </a:solidFill>
              </a:rPr>
              <a:t>                         </a:t>
            </a:r>
            <a:r>
              <a:rPr lang="en-IN" sz="2800" dirty="0">
                <a:solidFill>
                  <a:schemeClr val="bg2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Meaning of the Title</a:t>
            </a:r>
            <a:endParaRPr sz="2800" dirty="0">
              <a:solidFill>
                <a:schemeClr val="bg2">
                  <a:lumMod val="90000"/>
                  <a:lumOff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8"/>
          <p:cNvSpPr txBox="1">
            <a:spLocks noGrp="1"/>
          </p:cNvSpPr>
          <p:nvPr>
            <p:ph type="title"/>
          </p:nvPr>
        </p:nvSpPr>
        <p:spPr>
          <a:xfrm>
            <a:off x="673811" y="768522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sz="16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NUMBER OF MODULES AND WORK OF EACH MODULE</a:t>
            </a:r>
            <a:endParaRPr sz="1600" dirty="0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4" name="Google Shape;214;p28"/>
          <p:cNvSpPr txBox="1">
            <a:spLocks noGrp="1"/>
          </p:cNvSpPr>
          <p:nvPr>
            <p:ph type="body" idx="1"/>
          </p:nvPr>
        </p:nvSpPr>
        <p:spPr>
          <a:xfrm>
            <a:off x="535260" y="1196898"/>
            <a:ext cx="8352380" cy="34345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1-Authentication &amp; Role Management</a:t>
            </a:r>
            <a:br>
              <a:rPr lang="en-IN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User </a:t>
            </a:r>
            <a:r>
              <a:rPr lang="en-IN" dirty="0" err="1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Login,Password</a:t>
            </a:r>
            <a:r>
              <a:rPr lang="en-IN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dirty="0" err="1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Validation,Role</a:t>
            </a:r>
            <a:r>
              <a:rPr lang="en-IN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-based Access Control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fr-FR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2: Smart </a:t>
            </a:r>
            <a:r>
              <a:rPr lang="fr-FR" dirty="0" err="1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Device</a:t>
            </a:r>
            <a:r>
              <a:rPr lang="fr-FR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Management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fr-FR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</a:t>
            </a:r>
            <a:r>
              <a:rPr lang="en-US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Add/Update/Delete ,</a:t>
            </a:r>
            <a:r>
              <a:rPr lang="en-US" dirty="0" err="1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device,Fetch</a:t>
            </a:r>
            <a:r>
              <a:rPr lang="en-US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list of </a:t>
            </a:r>
            <a:r>
              <a:rPr lang="en-US" dirty="0" err="1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devices,Control</a:t>
            </a:r>
            <a:r>
              <a:rPr lang="en-US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device  </a:t>
            </a:r>
            <a:r>
              <a:rPr lang="en-US" dirty="0" err="1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operations,Store</a:t>
            </a:r>
            <a:r>
              <a:rPr lang="en-US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and update   device configurations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3: Real-Time Energy Tracking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Collect energy usage </a:t>
            </a:r>
            <a:r>
              <a:rPr lang="en-US" dirty="0" err="1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metrics,Log</a:t>
            </a:r>
            <a:r>
              <a:rPr lang="en-US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data </a:t>
            </a:r>
            <a:r>
              <a:rPr lang="en-US" dirty="0" err="1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continuously,Provide</a:t>
            </a:r>
            <a:r>
              <a:rPr lang="en-US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real-time usage reports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4: Analytics Dashboard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Fetch historical energy </a:t>
            </a:r>
            <a:r>
              <a:rPr lang="en-US" dirty="0" err="1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logs,Process</a:t>
            </a:r>
            <a:r>
              <a:rPr lang="en-US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data for </a:t>
            </a:r>
            <a:r>
              <a:rPr lang="en-US" dirty="0" err="1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patterns,Generate</a:t>
            </a:r>
            <a:r>
              <a:rPr lang="en-US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graphs and charts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5: Scheduling &amp; Automation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Create and store </a:t>
            </a:r>
            <a:r>
              <a:rPr lang="en-US" dirty="0" err="1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schedules,Execute</a:t>
            </a:r>
            <a:r>
              <a:rPr lang="en-US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tasks at exact </a:t>
            </a:r>
            <a:r>
              <a:rPr lang="en-US" dirty="0" err="1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time,Notify</a:t>
            </a:r>
            <a:r>
              <a:rPr lang="en-US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users automatically.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6: Recommendation System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Smart suggestions to </a:t>
            </a:r>
            <a:r>
              <a:rPr lang="en-US" dirty="0" err="1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optimite</a:t>
            </a:r>
            <a:r>
              <a:rPr lang="en-US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consumption and reduce energy bills</a:t>
            </a:r>
            <a:endParaRPr dirty="0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4"/>
          <p:cNvSpPr txBox="1">
            <a:spLocks noGrp="1"/>
          </p:cNvSpPr>
          <p:nvPr>
            <p:ph type="title"/>
          </p:nvPr>
        </p:nvSpPr>
        <p:spPr>
          <a:xfrm>
            <a:off x="730000" y="1318650"/>
            <a:ext cx="3300900" cy="178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sz="28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 ARCHITECTURE</a:t>
            </a:r>
            <a:endParaRPr sz="2800" dirty="0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7" name="Google Shape;187;p24"/>
          <p:cNvSpPr txBox="1">
            <a:spLocks noGrp="1"/>
          </p:cNvSpPr>
          <p:nvPr>
            <p:ph type="subTitle" idx="1"/>
          </p:nvPr>
        </p:nvSpPr>
        <p:spPr>
          <a:xfrm>
            <a:off x="724950" y="3313925"/>
            <a:ext cx="3300900" cy="75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endParaRPr sz="1300" dirty="0"/>
          </a:p>
        </p:txBody>
      </p:sp>
      <p:sp>
        <p:nvSpPr>
          <p:cNvPr id="189" name="Google Shape;189;p24"/>
          <p:cNvSpPr txBox="1"/>
          <p:nvPr/>
        </p:nvSpPr>
        <p:spPr>
          <a:xfrm>
            <a:off x="5207600" y="2891725"/>
            <a:ext cx="3300900" cy="35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 dirty="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91" name="Google Shape;191;p24"/>
          <p:cNvSpPr txBox="1"/>
          <p:nvPr/>
        </p:nvSpPr>
        <p:spPr>
          <a:xfrm>
            <a:off x="5207575" y="3142990"/>
            <a:ext cx="3300900" cy="3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 dirty="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3FAB33EE-EFF1-3922-F515-83A5E0CBF1F7}"/>
              </a:ext>
            </a:extLst>
          </p:cNvPr>
          <p:cNvSpPr/>
          <p:nvPr/>
        </p:nvSpPr>
        <p:spPr>
          <a:xfrm>
            <a:off x="5761463" y="224597"/>
            <a:ext cx="1754459" cy="639337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4B86D88-B3F2-FBBD-84A6-835DFDE84C16}"/>
              </a:ext>
            </a:extLst>
          </p:cNvPr>
          <p:cNvSpPr/>
          <p:nvPr/>
        </p:nvSpPr>
        <p:spPr>
          <a:xfrm>
            <a:off x="5731727" y="1360621"/>
            <a:ext cx="1813932" cy="622071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D95BE5BE-FC95-4057-2185-4B206F442FEE}"/>
              </a:ext>
            </a:extLst>
          </p:cNvPr>
          <p:cNvSpPr/>
          <p:nvPr/>
        </p:nvSpPr>
        <p:spPr>
          <a:xfrm>
            <a:off x="5761464" y="2446954"/>
            <a:ext cx="1754458" cy="622071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CDA612F4-B1C2-EDD9-F167-7F8958DB04E5}"/>
              </a:ext>
            </a:extLst>
          </p:cNvPr>
          <p:cNvSpPr/>
          <p:nvPr/>
        </p:nvSpPr>
        <p:spPr>
          <a:xfrm>
            <a:off x="5761463" y="3497513"/>
            <a:ext cx="1784196" cy="624468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F65C42FA-8766-7204-9AAE-ED5DA0E631A4}"/>
              </a:ext>
            </a:extLst>
          </p:cNvPr>
          <p:cNvSpPr/>
          <p:nvPr/>
        </p:nvSpPr>
        <p:spPr>
          <a:xfrm>
            <a:off x="5761463" y="4557131"/>
            <a:ext cx="1784196" cy="475786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40C952E-0D4B-F6F0-DEF3-52F3A15C0963}"/>
              </a:ext>
            </a:extLst>
          </p:cNvPr>
          <p:cNvSpPr txBox="1"/>
          <p:nvPr/>
        </p:nvSpPr>
        <p:spPr>
          <a:xfrm>
            <a:off x="6069981" y="370870"/>
            <a:ext cx="1137424" cy="5155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35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Smart Meters</a:t>
            </a:r>
          </a:p>
          <a:p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4EF9BF6-78E2-2DCA-466C-0FA5BE8D1BB8}"/>
              </a:ext>
            </a:extLst>
          </p:cNvPr>
          <p:cNvSpPr txBox="1"/>
          <p:nvPr/>
        </p:nvSpPr>
        <p:spPr>
          <a:xfrm>
            <a:off x="5902712" y="1334932"/>
            <a:ext cx="147196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35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Energy Management Unit (EMU)</a:t>
            </a:r>
          </a:p>
          <a:p>
            <a:endParaRPr lang="en-I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76E12A3-D2A1-9D4B-93FA-C393A11CF9E1}"/>
              </a:ext>
            </a:extLst>
          </p:cNvPr>
          <p:cNvSpPr txBox="1"/>
          <p:nvPr/>
        </p:nvSpPr>
        <p:spPr>
          <a:xfrm>
            <a:off x="5854389" y="2426213"/>
            <a:ext cx="1568605" cy="9310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35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Smart Appliances / HAN / Renewable Energy Sources</a:t>
            </a:r>
          </a:p>
          <a:p>
            <a:endParaRPr lang="en-IN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1B1C506-D873-57DD-A552-5A04C2000BAE}"/>
              </a:ext>
            </a:extLst>
          </p:cNvPr>
          <p:cNvSpPr txBox="1"/>
          <p:nvPr/>
        </p:nvSpPr>
        <p:spPr>
          <a:xfrm>
            <a:off x="5955679" y="3639832"/>
            <a:ext cx="1366024" cy="5155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35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Cloud Platform</a:t>
            </a:r>
          </a:p>
          <a:p>
            <a:endParaRPr lang="en-I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7DA25EB-B922-08EE-4319-E00F0383C122}"/>
              </a:ext>
            </a:extLst>
          </p:cNvPr>
          <p:cNvSpPr txBox="1"/>
          <p:nvPr/>
        </p:nvSpPr>
        <p:spPr>
          <a:xfrm>
            <a:off x="5970549" y="4533414"/>
            <a:ext cx="13660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35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User Interface (Mobile/Web)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B61BC3D9-9B86-CCEC-5236-1761B4929F05}"/>
              </a:ext>
            </a:extLst>
          </p:cNvPr>
          <p:cNvCxnSpPr>
            <a:stCxn id="8" idx="2"/>
            <a:endCxn id="9" idx="0"/>
          </p:cNvCxnSpPr>
          <p:nvPr/>
        </p:nvCxnSpPr>
        <p:spPr>
          <a:xfrm>
            <a:off x="6638693" y="886396"/>
            <a:ext cx="0" cy="4485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1EDC10A4-D5B2-9FC9-5412-9FAECC5EBDAC}"/>
              </a:ext>
            </a:extLst>
          </p:cNvPr>
          <p:cNvCxnSpPr>
            <a:endCxn id="10" idx="0"/>
          </p:cNvCxnSpPr>
          <p:nvPr/>
        </p:nvCxnSpPr>
        <p:spPr>
          <a:xfrm>
            <a:off x="6638691" y="1982692"/>
            <a:ext cx="1" cy="4435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C2C61F94-BC59-FE8D-21AC-48EEEC35A91B}"/>
              </a:ext>
            </a:extLst>
          </p:cNvPr>
          <p:cNvCxnSpPr>
            <a:cxnSpLocks/>
          </p:cNvCxnSpPr>
          <p:nvPr/>
        </p:nvCxnSpPr>
        <p:spPr>
          <a:xfrm>
            <a:off x="6608951" y="3069025"/>
            <a:ext cx="0" cy="3780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C73FA9FC-6727-6BBE-F68D-AA5BB528D64F}"/>
              </a:ext>
            </a:extLst>
          </p:cNvPr>
          <p:cNvCxnSpPr>
            <a:cxnSpLocks/>
          </p:cNvCxnSpPr>
          <p:nvPr/>
        </p:nvCxnSpPr>
        <p:spPr>
          <a:xfrm>
            <a:off x="6623821" y="4155358"/>
            <a:ext cx="14870" cy="3780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29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IN" sz="28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1-Authentication &amp; Role Management:</a:t>
            </a:r>
            <a:endParaRPr sz="2800" dirty="0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0" name="Google Shape;220;p29"/>
          <p:cNvSpPr txBox="1">
            <a:spLocks noGrp="1"/>
          </p:cNvSpPr>
          <p:nvPr>
            <p:ph type="body" idx="1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r>
              <a:rPr lang="en-IN" b="1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ACTIVITIES: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Collects user credentials (username and password) for login.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Verifies the password securely using hashing/validation.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Generates a secure session/token on successful login.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Checks the user role and grants access based on permissions.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Displays error for invalid login and supports secure logout.</a:t>
            </a:r>
          </a:p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38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sz="24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NUMBER OF CLASSES IN MODULE 1:</a:t>
            </a:r>
            <a:endParaRPr sz="2400" dirty="0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4" name="Google Shape;294;p38"/>
          <p:cNvSpPr txBox="1">
            <a:spLocks noGrp="1"/>
          </p:cNvSpPr>
          <p:nvPr>
            <p:ph type="body" idx="1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User :</a:t>
            </a:r>
          </a:p>
          <a:p>
            <a:pPr marL="146050" indent="0">
              <a:lnSpc>
                <a:spcPct val="150000"/>
              </a:lnSpc>
              <a:buNone/>
            </a:pPr>
            <a:r>
              <a:rPr lang="en-IN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Stores user details such as username, password, role and personal information.  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dirty="0" err="1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AuthController</a:t>
            </a:r>
            <a:r>
              <a:rPr lang="en-IN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146050" indent="0">
              <a:lnSpc>
                <a:spcPct val="150000"/>
              </a:lnSpc>
              <a:buNone/>
            </a:pPr>
            <a:r>
              <a:rPr lang="en-IN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Handles user requests like login, logout and registration from the UI.            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 err="1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AuthService</a:t>
            </a:r>
            <a:r>
              <a:rPr lang="en-IN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146050" indent="0">
              <a:lnSpc>
                <a:spcPct val="150000"/>
              </a:lnSpc>
              <a:buNone/>
            </a:pPr>
            <a:r>
              <a:rPr lang="en-IN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Performs authentication logic including password validation and token management. 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 err="1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UserRepository</a:t>
            </a:r>
            <a:r>
              <a:rPr lang="en-IN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pPr marL="146050" indent="0">
              <a:lnSpc>
                <a:spcPct val="150000"/>
              </a:lnSpc>
              <a:buNone/>
            </a:pPr>
            <a:r>
              <a:rPr lang="en-IN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Interacts with the database to store, update and retrieve user information.</a:t>
            </a:r>
            <a:endParaRPr dirty="0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6356B4-C801-69C9-7F3D-EF001B0CBB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 diagram </a:t>
            </a:r>
            <a:endParaRPr lang="en-IN" sz="2800" dirty="0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5D7A89E-B9D1-C149-671E-71EC3CD6B955}"/>
              </a:ext>
            </a:extLst>
          </p:cNvPr>
          <p:cNvSpPr/>
          <p:nvPr/>
        </p:nvSpPr>
        <p:spPr>
          <a:xfrm>
            <a:off x="929268" y="2155902"/>
            <a:ext cx="2445834" cy="266142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DE64A4B-9DD6-4DFD-1015-40675CE9652A}"/>
              </a:ext>
            </a:extLst>
          </p:cNvPr>
          <p:cNvCxnSpPr/>
          <p:nvPr/>
        </p:nvCxnSpPr>
        <p:spPr>
          <a:xfrm>
            <a:off x="929268" y="2787805"/>
            <a:ext cx="244583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DAF262CA-99E3-0C5A-EDF4-0B2BE3E330B1}"/>
              </a:ext>
            </a:extLst>
          </p:cNvPr>
          <p:cNvCxnSpPr/>
          <p:nvPr/>
        </p:nvCxnSpPr>
        <p:spPr>
          <a:xfrm>
            <a:off x="929268" y="4326673"/>
            <a:ext cx="244583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D210DF32-8A6F-2A83-B8EA-A631CC46A55B}"/>
              </a:ext>
            </a:extLst>
          </p:cNvPr>
          <p:cNvSpPr txBox="1"/>
          <p:nvPr/>
        </p:nvSpPr>
        <p:spPr>
          <a:xfrm>
            <a:off x="1672682" y="2340267"/>
            <a:ext cx="17024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/>
              <a:t>USER</a:t>
            </a:r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AADC999-DBB0-F445-12AA-092A3B969449}"/>
              </a:ext>
            </a:extLst>
          </p:cNvPr>
          <p:cNvSpPr txBox="1"/>
          <p:nvPr/>
        </p:nvSpPr>
        <p:spPr>
          <a:xfrm>
            <a:off x="1397618" y="2890397"/>
            <a:ext cx="2252547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err="1"/>
              <a:t>userId</a:t>
            </a:r>
            <a:r>
              <a:rPr lang="en-IN" dirty="0"/>
              <a:t>: int                           </a:t>
            </a:r>
          </a:p>
          <a:p>
            <a:r>
              <a:rPr lang="en-IN" dirty="0"/>
              <a:t>username: String                 password: String                  role: String                         name: String                       address: String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850899B-272F-1D5B-270C-D200E2344837}"/>
              </a:ext>
            </a:extLst>
          </p:cNvPr>
          <p:cNvSpPr txBox="1"/>
          <p:nvPr/>
        </p:nvSpPr>
        <p:spPr>
          <a:xfrm>
            <a:off x="1345580" y="4299617"/>
            <a:ext cx="20295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err="1"/>
              <a:t>updateProfile</a:t>
            </a:r>
            <a:r>
              <a:rPr lang="en-IN" dirty="0"/>
              <a:t>()                    </a:t>
            </a:r>
            <a:r>
              <a:rPr lang="en-IN" dirty="0" err="1"/>
              <a:t>getRole</a:t>
            </a:r>
            <a:r>
              <a:rPr lang="en-IN" dirty="0"/>
              <a:t>()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4073723-B746-5A36-7DF0-85CB3D206D13}"/>
              </a:ext>
            </a:extLst>
          </p:cNvPr>
          <p:cNvSpPr/>
          <p:nvPr/>
        </p:nvSpPr>
        <p:spPr>
          <a:xfrm>
            <a:off x="5382321" y="2126208"/>
            <a:ext cx="2676293" cy="232688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D3C67B2F-EA95-36A8-59A3-7933657F132E}"/>
              </a:ext>
            </a:extLst>
          </p:cNvPr>
          <p:cNvCxnSpPr/>
          <p:nvPr/>
        </p:nvCxnSpPr>
        <p:spPr>
          <a:xfrm>
            <a:off x="5382321" y="2787805"/>
            <a:ext cx="267629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62522F55-D27C-AA3E-22AA-7BD54F464C9A}"/>
              </a:ext>
            </a:extLst>
          </p:cNvPr>
          <p:cNvSpPr txBox="1"/>
          <p:nvPr/>
        </p:nvSpPr>
        <p:spPr>
          <a:xfrm>
            <a:off x="5646233" y="2323938"/>
            <a:ext cx="2341755" cy="3077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AUTHCONTROLLER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6EF26A8-6EFB-85BA-C74E-E2FB5824CF7A}"/>
              </a:ext>
            </a:extLst>
          </p:cNvPr>
          <p:cNvSpPr txBox="1"/>
          <p:nvPr/>
        </p:nvSpPr>
        <p:spPr>
          <a:xfrm>
            <a:off x="5668536" y="3025698"/>
            <a:ext cx="244583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login(username, password)               logout()                                           register(User)</a:t>
            </a:r>
          </a:p>
        </p:txBody>
      </p:sp>
    </p:spTree>
    <p:extLst>
      <p:ext uri="{BB962C8B-B14F-4D97-AF65-F5344CB8AC3E}">
        <p14:creationId xmlns:p14="http://schemas.microsoft.com/office/powerpoint/2010/main" val="25786813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F51034F-1B07-A088-250D-078746E18233}"/>
              </a:ext>
            </a:extLst>
          </p:cNvPr>
          <p:cNvSpPr/>
          <p:nvPr/>
        </p:nvSpPr>
        <p:spPr>
          <a:xfrm>
            <a:off x="765717" y="1598341"/>
            <a:ext cx="3003395" cy="238636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8CDC3E4-E882-B1A6-1723-64583910BB79}"/>
              </a:ext>
            </a:extLst>
          </p:cNvPr>
          <p:cNvSpPr/>
          <p:nvPr/>
        </p:nvSpPr>
        <p:spPr>
          <a:xfrm>
            <a:off x="4980878" y="1598340"/>
            <a:ext cx="3055434" cy="238636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B2CCD4B-8FDD-A8FB-FA95-9E46FCF6FEDB}"/>
              </a:ext>
            </a:extLst>
          </p:cNvPr>
          <p:cNvCxnSpPr/>
          <p:nvPr/>
        </p:nvCxnSpPr>
        <p:spPr>
          <a:xfrm>
            <a:off x="765717" y="2155902"/>
            <a:ext cx="300339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272F2F3-CA5B-5978-BB84-A2083B9EC5AE}"/>
              </a:ext>
            </a:extLst>
          </p:cNvPr>
          <p:cNvCxnSpPr/>
          <p:nvPr/>
        </p:nvCxnSpPr>
        <p:spPr>
          <a:xfrm>
            <a:off x="4980878" y="2155902"/>
            <a:ext cx="305543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8B4A5A32-13E9-62AB-F5D3-08484CFDA56D}"/>
              </a:ext>
            </a:extLst>
          </p:cNvPr>
          <p:cNvSpPr txBox="1"/>
          <p:nvPr/>
        </p:nvSpPr>
        <p:spPr>
          <a:xfrm>
            <a:off x="1353015" y="1723233"/>
            <a:ext cx="25722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AUTHSERVICE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DE94553-A7DB-8966-7067-C044EBFDFE37}"/>
              </a:ext>
            </a:extLst>
          </p:cNvPr>
          <p:cNvSpPr txBox="1"/>
          <p:nvPr/>
        </p:nvSpPr>
        <p:spPr>
          <a:xfrm>
            <a:off x="973873" y="2349190"/>
            <a:ext cx="2646556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err="1"/>
              <a:t>validateLogin</a:t>
            </a:r>
            <a:r>
              <a:rPr lang="en-IN" dirty="0"/>
              <a:t>(username, password): </a:t>
            </a:r>
            <a:r>
              <a:rPr lang="en-IN" dirty="0" err="1"/>
              <a:t>boolean</a:t>
            </a:r>
            <a:r>
              <a:rPr lang="en-IN" dirty="0"/>
              <a:t>        </a:t>
            </a:r>
            <a:r>
              <a:rPr lang="en-IN" dirty="0" err="1"/>
              <a:t>encryptPassword</a:t>
            </a:r>
            <a:r>
              <a:rPr lang="en-IN" dirty="0"/>
              <a:t>(password): String            </a:t>
            </a:r>
          </a:p>
          <a:p>
            <a:r>
              <a:rPr lang="en-IN" dirty="0" err="1"/>
              <a:t>generateToken</a:t>
            </a:r>
            <a:r>
              <a:rPr lang="en-IN" dirty="0"/>
              <a:t>(User): String                              </a:t>
            </a:r>
          </a:p>
          <a:p>
            <a:r>
              <a:rPr lang="en-IN" dirty="0" err="1"/>
              <a:t>validateToken</a:t>
            </a:r>
            <a:r>
              <a:rPr lang="en-IN" dirty="0"/>
              <a:t>(token): </a:t>
            </a:r>
            <a:r>
              <a:rPr lang="en-IN" dirty="0" err="1"/>
              <a:t>boolean</a:t>
            </a:r>
            <a:endParaRPr lang="en-I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8852657-F0C5-3034-D296-49A5194182C5}"/>
              </a:ext>
            </a:extLst>
          </p:cNvPr>
          <p:cNvSpPr txBox="1"/>
          <p:nvPr/>
        </p:nvSpPr>
        <p:spPr>
          <a:xfrm>
            <a:off x="5560741" y="1729178"/>
            <a:ext cx="247557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USERREPOSITORY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8C44985-D715-8E73-D58A-AA30B480F25C}"/>
              </a:ext>
            </a:extLst>
          </p:cNvPr>
          <p:cNvSpPr txBox="1"/>
          <p:nvPr/>
        </p:nvSpPr>
        <p:spPr>
          <a:xfrm>
            <a:off x="5114693" y="2416098"/>
            <a:ext cx="279523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err="1"/>
              <a:t>findUserByUsername</a:t>
            </a:r>
            <a:r>
              <a:rPr lang="en-IN" dirty="0"/>
              <a:t>(username): User </a:t>
            </a:r>
          </a:p>
          <a:p>
            <a:r>
              <a:rPr lang="en-IN" dirty="0" err="1"/>
              <a:t>saveUser</a:t>
            </a:r>
            <a:r>
              <a:rPr lang="en-IN" dirty="0"/>
              <a:t>(User)                                                </a:t>
            </a:r>
            <a:r>
              <a:rPr lang="en-IN" dirty="0" err="1"/>
              <a:t>updateUser</a:t>
            </a:r>
            <a:r>
              <a:rPr lang="en-IN" dirty="0"/>
              <a:t>(User)</a:t>
            </a:r>
          </a:p>
        </p:txBody>
      </p:sp>
    </p:spTree>
    <p:extLst>
      <p:ext uri="{BB962C8B-B14F-4D97-AF65-F5344CB8AC3E}">
        <p14:creationId xmlns:p14="http://schemas.microsoft.com/office/powerpoint/2010/main" val="32278601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4E7EE2-4212-BC4B-561B-F6A61F7B74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Db schema for module 1: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835264-0045-34D4-64AE-BD13EC6E93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CREATE TABLE users (</a:t>
            </a:r>
          </a:p>
          <a:p>
            <a:pPr marL="146050" indent="0">
              <a:buNone/>
            </a:pPr>
            <a:r>
              <a:rPr lang="en-IN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</a:t>
            </a:r>
            <a:r>
              <a:rPr lang="en-IN" dirty="0" err="1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user_id</a:t>
            </a:r>
            <a:r>
              <a:rPr lang="en-IN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BIGINT PRIMARY KEY AUTO_INCREMENT,</a:t>
            </a:r>
          </a:p>
          <a:p>
            <a:pPr marL="146050" indent="0">
              <a:buNone/>
            </a:pPr>
            <a:r>
              <a:rPr lang="en-IN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Username VARCHAR(50) UNIQUE NOT NULL,</a:t>
            </a:r>
          </a:p>
          <a:p>
            <a:pPr marL="146050" indent="0">
              <a:buNone/>
            </a:pPr>
            <a:r>
              <a:rPr lang="en-IN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Email   VARCHAR(100) UNIQUE NOT NULL,</a:t>
            </a:r>
          </a:p>
          <a:p>
            <a:pPr marL="146050" indent="0">
              <a:buNone/>
            </a:pPr>
            <a:r>
              <a:rPr lang="en-IN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Password VARCHAR(255) NOT NULL,</a:t>
            </a:r>
          </a:p>
          <a:p>
            <a:pPr marL="146050" indent="0">
              <a:buNone/>
            </a:pPr>
            <a:r>
              <a:rPr lang="en-IN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Role VARCHAR(30),</a:t>
            </a:r>
          </a:p>
          <a:p>
            <a:pPr marL="146050" indent="0">
              <a:buNone/>
            </a:pPr>
            <a:r>
              <a:rPr lang="en-IN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  <a:r>
              <a:rPr lang="en-IN" dirty="0" err="1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Is_active</a:t>
            </a:r>
            <a:r>
              <a:rPr lang="en-IN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BOOLEAN DEFAULT TRUE,</a:t>
            </a:r>
          </a:p>
          <a:p>
            <a:pPr marL="146050" indent="0">
              <a:buNone/>
            </a:pPr>
            <a:r>
              <a:rPr lang="en-IN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  <a:r>
              <a:rPr lang="en-IN" dirty="0" err="1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Created_at</a:t>
            </a:r>
            <a:r>
              <a:rPr lang="en-IN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TIMESTAMP DEFAULT CURRENT_TIMESTAMP</a:t>
            </a:r>
          </a:p>
          <a:p>
            <a:pPr marL="146050" indent="0">
              <a:buNone/>
            </a:pPr>
            <a:r>
              <a:rPr lang="en-IN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);</a:t>
            </a:r>
          </a:p>
          <a:p>
            <a:pPr marL="14605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434225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C5EC16-E5CE-8212-A872-47DBD1DB3F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183A664-0194-35E4-E148-A5077A303937}"/>
              </a:ext>
            </a:extLst>
          </p:cNvPr>
          <p:cNvSpPr txBox="1"/>
          <p:nvPr/>
        </p:nvSpPr>
        <p:spPr>
          <a:xfrm>
            <a:off x="594732" y="1036714"/>
            <a:ext cx="3397405" cy="30700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 </a:t>
            </a:r>
            <a:r>
              <a:rPr lang="en-IN" sz="1200" dirty="0" err="1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UserRepository</a:t>
            </a:r>
            <a:r>
              <a:rPr lang="en-IN" sz="12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{</a:t>
            </a:r>
          </a:p>
          <a:p>
            <a:r>
              <a:rPr lang="en-IN" sz="12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save (User)</a:t>
            </a:r>
          </a:p>
          <a:p>
            <a:r>
              <a:rPr lang="en-IN" sz="12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IN" sz="1200" dirty="0" err="1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findByUsername</a:t>
            </a:r>
            <a:r>
              <a:rPr lang="en-IN" sz="12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  <a:p>
            <a:r>
              <a:rPr lang="en-IN" sz="12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2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Performs DB operations on users</a:t>
            </a:r>
          </a:p>
          <a:p>
            <a:pPr marL="0" indent="0"/>
            <a:endParaRPr lang="en-IN" sz="1200" dirty="0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IN" sz="1200" dirty="0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2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 User {</a:t>
            </a:r>
          </a:p>
          <a:p>
            <a:r>
              <a:rPr lang="en-IN" sz="12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Long </a:t>
            </a:r>
            <a:r>
              <a:rPr lang="en-IN" sz="1200" dirty="0" err="1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userId</a:t>
            </a:r>
            <a:r>
              <a:rPr lang="en-IN" sz="12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r>
              <a:rPr lang="en-IN" sz="12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String username;</a:t>
            </a:r>
          </a:p>
          <a:p>
            <a:r>
              <a:rPr lang="en-IN" sz="12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String email;</a:t>
            </a:r>
          </a:p>
          <a:p>
            <a:r>
              <a:rPr lang="en-IN" sz="12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String password;</a:t>
            </a:r>
          </a:p>
          <a:p>
            <a:r>
              <a:rPr lang="en-IN" sz="12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String role;</a:t>
            </a:r>
          </a:p>
          <a:p>
            <a:r>
              <a:rPr lang="en-IN" sz="12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Boolean </a:t>
            </a:r>
            <a:r>
              <a:rPr lang="en-IN" sz="1200" dirty="0" err="1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isActive</a:t>
            </a:r>
            <a:r>
              <a:rPr lang="en-IN" sz="12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r>
              <a:rPr lang="en-IN" sz="12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endParaRPr lang="en-IN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32706D8-D2FF-0647-9143-305A077D1A03}"/>
              </a:ext>
            </a:extLst>
          </p:cNvPr>
          <p:cNvSpPr txBox="1"/>
          <p:nvPr/>
        </p:nvSpPr>
        <p:spPr>
          <a:xfrm>
            <a:off x="5032917" y="951571"/>
            <a:ext cx="2847278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 </a:t>
            </a:r>
            <a:r>
              <a:rPr lang="en-IN" dirty="0" err="1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AuthService</a:t>
            </a:r>
            <a:r>
              <a:rPr lang="en-IN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{</a:t>
            </a:r>
          </a:p>
          <a:p>
            <a:r>
              <a:rPr lang="en-IN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login()</a:t>
            </a:r>
          </a:p>
          <a:p>
            <a:r>
              <a:rPr lang="en-IN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IN" dirty="0" err="1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validatePassword</a:t>
            </a:r>
            <a:r>
              <a:rPr lang="en-IN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  <a:p>
            <a:r>
              <a:rPr lang="en-IN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Business </a:t>
            </a:r>
            <a:r>
              <a:rPr lang="en-IN" sz="135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logic</a:t>
            </a:r>
            <a:r>
              <a:rPr lang="en-IN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only</a:t>
            </a:r>
          </a:p>
          <a:p>
            <a:pPr marL="0" indent="0"/>
            <a:endParaRPr lang="en-IN" dirty="0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/>
            <a:endParaRPr lang="en-IN" dirty="0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 </a:t>
            </a:r>
            <a:r>
              <a:rPr lang="en-IN" dirty="0" err="1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AuthController</a:t>
            </a:r>
            <a:r>
              <a:rPr lang="en-IN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{</a:t>
            </a:r>
          </a:p>
          <a:p>
            <a:r>
              <a:rPr lang="en-IN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/login</a:t>
            </a:r>
          </a:p>
          <a:p>
            <a:r>
              <a:rPr lang="en-IN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Receives requests &amp; sends responses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549492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7">
          <a:extLst>
            <a:ext uri="{FF2B5EF4-FFF2-40B4-BE49-F238E27FC236}">
              <a16:creationId xmlns:a16="http://schemas.microsoft.com/office/drawing/2014/main" id="{5CB858B4-472F-43D9-DEF7-1F09ADD0F7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41">
            <a:extLst>
              <a:ext uri="{FF2B5EF4-FFF2-40B4-BE49-F238E27FC236}">
                <a16:creationId xmlns:a16="http://schemas.microsoft.com/office/drawing/2014/main" id="{D012BBFF-34A0-FA84-7755-4EB36B220E8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Pseudocode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9" name="Google Shape;339;p41">
            <a:extLst>
              <a:ext uri="{FF2B5EF4-FFF2-40B4-BE49-F238E27FC236}">
                <a16:creationId xmlns:a16="http://schemas.microsoft.com/office/drawing/2014/main" id="{6C15FFB9-470E-1C36-1640-BB088D420DA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29450" y="2078875"/>
            <a:ext cx="2846374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buNone/>
            </a:pPr>
            <a:r>
              <a:rPr lang="en-US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 User</a:t>
            </a:r>
          </a:p>
          <a:p>
            <a:pPr marL="0" lvl="0" indent="0">
              <a:buNone/>
            </a:pPr>
            <a:r>
              <a:rPr lang="en-US" dirty="0" err="1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userld</a:t>
            </a:r>
            <a:endParaRPr lang="en-US" dirty="0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>
              <a:buNone/>
            </a:pPr>
            <a:r>
              <a:rPr lang="en-US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name</a:t>
            </a:r>
          </a:p>
          <a:p>
            <a:pPr marL="0" lvl="0" indent="0">
              <a:buNone/>
            </a:pPr>
            <a:r>
              <a:rPr lang="en-US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email</a:t>
            </a:r>
          </a:p>
          <a:p>
            <a:pPr marL="0" lvl="0" indent="0">
              <a:buNone/>
            </a:pPr>
            <a:r>
              <a:rPr lang="en-US" dirty="0" err="1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usemame</a:t>
            </a:r>
            <a:endParaRPr lang="en-US" dirty="0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>
              <a:buNone/>
            </a:pPr>
            <a:r>
              <a:rPr lang="en-US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password</a:t>
            </a:r>
          </a:p>
          <a:p>
            <a:pPr marL="0" lvl="0" indent="0">
              <a:buNone/>
            </a:pPr>
            <a:r>
              <a:rPr lang="en-US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role</a:t>
            </a:r>
          </a:p>
          <a:p>
            <a:pPr marL="0" lvl="0" indent="0">
              <a:buNone/>
            </a:pPr>
            <a:r>
              <a:rPr lang="en-US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END CLASS</a:t>
            </a:r>
            <a:endParaRPr dirty="0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1060484-C558-EA71-C515-DACA5BC31211}"/>
              </a:ext>
            </a:extLst>
          </p:cNvPr>
          <p:cNvSpPr txBox="1"/>
          <p:nvPr/>
        </p:nvSpPr>
        <p:spPr>
          <a:xfrm>
            <a:off x="5255942" y="1877762"/>
            <a:ext cx="3389970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UserRepository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SaveUsarasa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store user in database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END FUNCTION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finduser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(username)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Return user from database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END FUNCTION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END CLASS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277284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6292529-857D-CCF9-D838-C3744BE767C4}"/>
              </a:ext>
            </a:extLst>
          </p:cNvPr>
          <p:cNvSpPr txBox="1"/>
          <p:nvPr/>
        </p:nvSpPr>
        <p:spPr>
          <a:xfrm>
            <a:off x="5360018" y="1017506"/>
            <a:ext cx="3598128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 </a:t>
            </a: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AuthController</a:t>
            </a:r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 signup(</a:t>
            </a: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userDetails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AuthService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signup(</a:t>
            </a: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userDetails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END FUNCTION</a:t>
            </a:r>
          </a:p>
          <a:p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 </a:t>
            </a: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signin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loginDetails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AuthService.signini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loginDetails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END FUNCTION</a:t>
            </a:r>
          </a:p>
          <a:p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 forgot Password(email)</a:t>
            </a: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AuthService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forgot Password(email)</a:t>
            </a: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END FUNCTION</a:t>
            </a: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END CLASS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356361-F563-B091-2C86-4318C9B0C4B2}"/>
              </a:ext>
            </a:extLst>
          </p:cNvPr>
          <p:cNvSpPr txBox="1"/>
          <p:nvPr/>
        </p:nvSpPr>
        <p:spPr>
          <a:xfrm>
            <a:off x="572429" y="519417"/>
            <a:ext cx="3843454" cy="47397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AuthService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 signup(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userDetail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user  already exists THEN</a:t>
            </a:r>
          </a:p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show "User already exists”</a:t>
            </a:r>
          </a:p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ELSE</a:t>
            </a:r>
          </a:p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save user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desails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show "Signup Successful”</a:t>
            </a:r>
          </a:p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END IF</a:t>
            </a:r>
          </a:p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END-FUNCTION</a:t>
            </a:r>
          </a:p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signin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loginDetail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username and  password are correct THEN</a:t>
            </a:r>
          </a:p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generate login token</a:t>
            </a:r>
          </a:p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allow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acess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ELSE</a:t>
            </a:r>
          </a:p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show “invalid login”</a:t>
            </a:r>
          </a:p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END IF</a:t>
            </a:r>
          </a:p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END-FUNCTION</a:t>
            </a:r>
          </a:p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 forgot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Passediomaill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send reset link to email </a:t>
            </a:r>
          </a:p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ELSE</a:t>
            </a:r>
          </a:p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show "Email not fixed</a:t>
            </a:r>
          </a:p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END IF</a:t>
            </a:r>
          </a:p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END FUNCTION</a:t>
            </a:r>
          </a:p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END CLASS</a:t>
            </a:r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014349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39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fr-FR" sz="28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2: Smart </a:t>
            </a:r>
            <a:r>
              <a:rPr lang="fr-FR" sz="2800" dirty="0" err="1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Device</a:t>
            </a:r>
            <a:r>
              <a:rPr lang="fr-FR" sz="28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Management </a:t>
            </a:r>
            <a:br>
              <a:rPr lang="fr-FR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sz="3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A114027-C582-EAEB-A74D-D102E2FBABAA}"/>
              </a:ext>
            </a:extLst>
          </p:cNvPr>
          <p:cNvSpPr txBox="1"/>
          <p:nvPr/>
        </p:nvSpPr>
        <p:spPr>
          <a:xfrm>
            <a:off x="729450" y="2200507"/>
            <a:ext cx="7098706" cy="21775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b="1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ACTIVITIES:</a:t>
            </a:r>
            <a:endParaRPr lang="en-US" sz="135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 devices are registered with their configuration details in the system.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Users can view and manage all connected devices from the dashboard.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Devices can be turned ON or OFF and controlled in real time.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continuously monitors and updates each device’s current status.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Updated device lists and status information are displayed to the user.</a:t>
            </a:r>
          </a:p>
          <a:p>
            <a:endParaRPr lang="fr-FR" dirty="0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FB5214-AB47-1415-9911-38C548B8B1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NUMBER OF CLASSES IN MODULE 2:</a:t>
            </a:r>
            <a:endParaRPr lang="en-IN" sz="24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882CB9-654E-C018-6812-B878C54D8F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46050" indent="0">
              <a:buNone/>
            </a:pPr>
            <a:r>
              <a:rPr lang="en-IN" b="1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Device:</a:t>
            </a:r>
          </a:p>
          <a:p>
            <a:pPr marL="146050" indent="0">
              <a:buNone/>
            </a:pPr>
            <a:r>
              <a:rPr lang="en-IN" dirty="0">
                <a:solidFill>
                  <a:schemeClr val="bg2"/>
                </a:solidFill>
              </a:rPr>
              <a:t>      </a:t>
            </a:r>
            <a:r>
              <a:rPr lang="en-US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Device class stores device details, updates device information, and calculates estimated daily power usage</a:t>
            </a:r>
            <a:r>
              <a:rPr lang="en-US" dirty="0">
                <a:solidFill>
                  <a:schemeClr val="bg2"/>
                </a:solidFill>
              </a:rPr>
              <a:t>.</a:t>
            </a:r>
            <a:br>
              <a:rPr lang="en-US" dirty="0">
                <a:solidFill>
                  <a:schemeClr val="bg2"/>
                </a:solidFill>
              </a:rPr>
            </a:br>
            <a:r>
              <a:rPr lang="en-US" b="1" dirty="0" err="1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DeviceController</a:t>
            </a:r>
            <a:r>
              <a:rPr lang="en-US" b="1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146050" indent="0">
              <a:buNone/>
            </a:pPr>
            <a:r>
              <a:rPr lang="en-US" b="1" dirty="0"/>
              <a:t>    </a:t>
            </a:r>
            <a:r>
              <a:rPr lang="en-US" dirty="0"/>
              <a:t> </a:t>
            </a:r>
            <a:r>
              <a:rPr lang="en-US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Handles user requests to add, update, delete, and view devices.</a:t>
            </a:r>
          </a:p>
          <a:p>
            <a:pPr marL="146050" indent="0">
              <a:buNone/>
            </a:pPr>
            <a:r>
              <a:rPr lang="en-IN" b="1" dirty="0" err="1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DeviceService</a:t>
            </a:r>
            <a:r>
              <a:rPr lang="en-IN" b="1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IN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146050" indent="0">
              <a:buNone/>
            </a:pPr>
            <a:r>
              <a:rPr lang="en-IN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Validates device ownership, calculates energy consumption, and fetches user devices.</a:t>
            </a:r>
          </a:p>
          <a:p>
            <a:pPr marL="146050" indent="0">
              <a:buNone/>
            </a:pPr>
            <a:r>
              <a:rPr lang="en-IN" b="1" dirty="0" err="1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DeviceRepository</a:t>
            </a:r>
            <a:r>
              <a:rPr lang="en-IN" b="1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IN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146050" indent="0">
              <a:buNone/>
            </a:pPr>
            <a:r>
              <a:rPr lang="en-IN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Manages saving, updating, deleting, and retrieving device data.</a:t>
            </a:r>
          </a:p>
          <a:p>
            <a:pPr marL="14605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4709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B3450B-6314-2DCF-3B8E-3FF5ACCCF0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AB03CE-7125-A345-A29A-DC631D4456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 diagram </a:t>
            </a:r>
            <a:endParaRPr lang="en-IN" sz="2800" dirty="0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E7B7655-F2C3-A125-5CD6-B5387D44EBBF}"/>
              </a:ext>
            </a:extLst>
          </p:cNvPr>
          <p:cNvSpPr/>
          <p:nvPr/>
        </p:nvSpPr>
        <p:spPr>
          <a:xfrm>
            <a:off x="929268" y="2126208"/>
            <a:ext cx="2445834" cy="286751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45461B06-44B7-C9BF-4E70-7AB7CF52FB56}"/>
              </a:ext>
            </a:extLst>
          </p:cNvPr>
          <p:cNvCxnSpPr/>
          <p:nvPr/>
        </p:nvCxnSpPr>
        <p:spPr>
          <a:xfrm>
            <a:off x="929268" y="2787805"/>
            <a:ext cx="244583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240F34C-C104-CFCA-4B14-5556B416FCD1}"/>
              </a:ext>
            </a:extLst>
          </p:cNvPr>
          <p:cNvCxnSpPr/>
          <p:nvPr/>
        </p:nvCxnSpPr>
        <p:spPr>
          <a:xfrm>
            <a:off x="929268" y="4326673"/>
            <a:ext cx="244583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E7ABBF79-433C-A655-EA35-DB9BCA91ACFA}"/>
              </a:ext>
            </a:extLst>
          </p:cNvPr>
          <p:cNvSpPr txBox="1"/>
          <p:nvPr/>
        </p:nvSpPr>
        <p:spPr>
          <a:xfrm>
            <a:off x="1672682" y="2340267"/>
            <a:ext cx="17024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Device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A0D27D5-B8F5-2C66-C040-70737364AE57}"/>
              </a:ext>
            </a:extLst>
          </p:cNvPr>
          <p:cNvSpPr txBox="1"/>
          <p:nvPr/>
        </p:nvSpPr>
        <p:spPr>
          <a:xfrm>
            <a:off x="1397618" y="2890397"/>
            <a:ext cx="2252547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err="1"/>
              <a:t>deviceId</a:t>
            </a:r>
            <a:r>
              <a:rPr lang="en-IN" dirty="0"/>
              <a:t> : int     </a:t>
            </a:r>
          </a:p>
          <a:p>
            <a:r>
              <a:rPr lang="en-IN" dirty="0"/>
              <a:t>name : String      </a:t>
            </a:r>
          </a:p>
          <a:p>
            <a:r>
              <a:rPr lang="en-IN" dirty="0"/>
              <a:t>type : String      </a:t>
            </a:r>
          </a:p>
          <a:p>
            <a:r>
              <a:rPr lang="en-IN" dirty="0" err="1"/>
              <a:t>powerRating</a:t>
            </a:r>
            <a:r>
              <a:rPr lang="en-IN" dirty="0"/>
              <a:t> : float</a:t>
            </a:r>
          </a:p>
          <a:p>
            <a:r>
              <a:rPr lang="en-IN" dirty="0" err="1"/>
              <a:t>ownerId</a:t>
            </a:r>
            <a:r>
              <a:rPr lang="en-IN" dirty="0"/>
              <a:t> : int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2CA4181-4ADF-EE2D-39AC-2FEE8029D3D4}"/>
              </a:ext>
            </a:extLst>
          </p:cNvPr>
          <p:cNvSpPr txBox="1"/>
          <p:nvPr/>
        </p:nvSpPr>
        <p:spPr>
          <a:xfrm>
            <a:off x="1360448" y="4284749"/>
            <a:ext cx="202952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err="1"/>
              <a:t>updateDeviceInfo</a:t>
            </a:r>
            <a:r>
              <a:rPr lang="en-IN" dirty="0"/>
              <a:t>() </a:t>
            </a:r>
          </a:p>
          <a:p>
            <a:r>
              <a:rPr lang="en-IN" dirty="0" err="1"/>
              <a:t>calculateEstimated</a:t>
            </a:r>
            <a:r>
              <a:rPr lang="en-IN" dirty="0"/>
              <a:t> </a:t>
            </a:r>
          </a:p>
          <a:p>
            <a:r>
              <a:rPr lang="en-IN" dirty="0" err="1"/>
              <a:t>DailyUsage</a:t>
            </a:r>
            <a:r>
              <a:rPr lang="en-IN" dirty="0"/>
              <a:t>() 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F349E47-0373-8B98-259B-1903C10AF61D}"/>
              </a:ext>
            </a:extLst>
          </p:cNvPr>
          <p:cNvSpPr/>
          <p:nvPr/>
        </p:nvSpPr>
        <p:spPr>
          <a:xfrm>
            <a:off x="5382321" y="2126208"/>
            <a:ext cx="2676293" cy="232688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DD0E38AA-827B-6032-5738-68CD76C2861F}"/>
              </a:ext>
            </a:extLst>
          </p:cNvPr>
          <p:cNvCxnSpPr/>
          <p:nvPr/>
        </p:nvCxnSpPr>
        <p:spPr>
          <a:xfrm>
            <a:off x="5382321" y="2787805"/>
            <a:ext cx="267629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7C8A359B-B49F-1407-EAA4-E1AE063B35C6}"/>
              </a:ext>
            </a:extLst>
          </p:cNvPr>
          <p:cNvSpPr txBox="1"/>
          <p:nvPr/>
        </p:nvSpPr>
        <p:spPr>
          <a:xfrm>
            <a:off x="5872977" y="2323938"/>
            <a:ext cx="2341755" cy="3077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 </a:t>
            </a:r>
            <a:r>
              <a:rPr lang="en-IN" dirty="0" err="1"/>
              <a:t>DeviceController</a:t>
            </a:r>
            <a:r>
              <a:rPr lang="en-IN" dirty="0"/>
              <a:t>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9061C12-8BE0-E5A9-081C-A6E9FBFB1900}"/>
              </a:ext>
            </a:extLst>
          </p:cNvPr>
          <p:cNvSpPr txBox="1"/>
          <p:nvPr/>
        </p:nvSpPr>
        <p:spPr>
          <a:xfrm>
            <a:off x="5668536" y="3025698"/>
            <a:ext cx="244583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err="1"/>
              <a:t>addDevice</a:t>
            </a:r>
            <a:r>
              <a:rPr lang="en-IN" dirty="0"/>
              <a:t>(Device)        </a:t>
            </a:r>
          </a:p>
          <a:p>
            <a:r>
              <a:rPr lang="en-IN" dirty="0" err="1"/>
              <a:t>updateDevice</a:t>
            </a:r>
            <a:r>
              <a:rPr lang="en-IN" dirty="0"/>
              <a:t>(id, Device) </a:t>
            </a:r>
            <a:r>
              <a:rPr lang="en-IN" dirty="0" err="1"/>
              <a:t>deleteDevice</a:t>
            </a:r>
            <a:r>
              <a:rPr lang="en-IN" dirty="0"/>
              <a:t>(id)         </a:t>
            </a:r>
          </a:p>
          <a:p>
            <a:r>
              <a:rPr lang="en-IN" dirty="0" err="1"/>
              <a:t>getDeviceList</a:t>
            </a:r>
            <a:r>
              <a:rPr lang="en-IN" dirty="0"/>
              <a:t>(</a:t>
            </a:r>
            <a:r>
              <a:rPr lang="en-IN" dirty="0" err="1"/>
              <a:t>ownerId</a:t>
            </a:r>
            <a:r>
              <a:rPr lang="en-IN" dirty="0"/>
              <a:t>) </a:t>
            </a:r>
          </a:p>
        </p:txBody>
      </p:sp>
    </p:spTree>
    <p:extLst>
      <p:ext uri="{BB962C8B-B14F-4D97-AF65-F5344CB8AC3E}">
        <p14:creationId xmlns:p14="http://schemas.microsoft.com/office/powerpoint/2010/main" val="390248366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6592F9-C5B3-FFAD-8B6A-70F9D0B50D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8E91CBB-7757-FDBA-57EF-C85C3D569F83}"/>
              </a:ext>
            </a:extLst>
          </p:cNvPr>
          <p:cNvSpPr/>
          <p:nvPr/>
        </p:nvSpPr>
        <p:spPr>
          <a:xfrm>
            <a:off x="765717" y="1598341"/>
            <a:ext cx="3003395" cy="238636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5CCCBFD-A733-D878-676D-114A93B8611C}"/>
              </a:ext>
            </a:extLst>
          </p:cNvPr>
          <p:cNvSpPr/>
          <p:nvPr/>
        </p:nvSpPr>
        <p:spPr>
          <a:xfrm>
            <a:off x="4980878" y="1598340"/>
            <a:ext cx="3055434" cy="238636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20FD2C8-3E80-2225-7B90-3AE80D5663BC}"/>
              </a:ext>
            </a:extLst>
          </p:cNvPr>
          <p:cNvCxnSpPr/>
          <p:nvPr/>
        </p:nvCxnSpPr>
        <p:spPr>
          <a:xfrm>
            <a:off x="765717" y="2155902"/>
            <a:ext cx="300339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4F73A72-9A2F-3E0F-ACFD-58E67569EF10}"/>
              </a:ext>
            </a:extLst>
          </p:cNvPr>
          <p:cNvCxnSpPr/>
          <p:nvPr/>
        </p:nvCxnSpPr>
        <p:spPr>
          <a:xfrm>
            <a:off x="4980878" y="2155902"/>
            <a:ext cx="305543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4243AF53-A4B6-B7FD-6BB7-AA9D2C50C44A}"/>
              </a:ext>
            </a:extLst>
          </p:cNvPr>
          <p:cNvSpPr txBox="1"/>
          <p:nvPr/>
        </p:nvSpPr>
        <p:spPr>
          <a:xfrm>
            <a:off x="1353015" y="1723233"/>
            <a:ext cx="25722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err="1"/>
              <a:t>DeviceService</a:t>
            </a:r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09E4B8E-604A-6D57-FE57-221F0ADD193F}"/>
              </a:ext>
            </a:extLst>
          </p:cNvPr>
          <p:cNvSpPr txBox="1"/>
          <p:nvPr/>
        </p:nvSpPr>
        <p:spPr>
          <a:xfrm>
            <a:off x="973873" y="2349190"/>
            <a:ext cx="2646556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err="1"/>
              <a:t>validateOwnership</a:t>
            </a:r>
            <a:r>
              <a:rPr lang="en-IN" dirty="0"/>
              <a:t>(</a:t>
            </a:r>
            <a:r>
              <a:rPr lang="en-IN" dirty="0" err="1"/>
              <a:t>userId</a:t>
            </a:r>
            <a:r>
              <a:rPr lang="en-IN" dirty="0"/>
              <a:t>, </a:t>
            </a:r>
            <a:r>
              <a:rPr lang="en-IN" dirty="0" err="1"/>
              <a:t>deviceId</a:t>
            </a:r>
            <a:r>
              <a:rPr lang="en-IN" dirty="0"/>
              <a:t>)                 </a:t>
            </a:r>
          </a:p>
          <a:p>
            <a:r>
              <a:rPr lang="en-IN" dirty="0" err="1"/>
              <a:t>computeDeviceConsumption</a:t>
            </a:r>
            <a:r>
              <a:rPr lang="en-IN" dirty="0"/>
              <a:t>(id)</a:t>
            </a:r>
          </a:p>
          <a:p>
            <a:r>
              <a:rPr lang="en-IN" dirty="0" err="1"/>
              <a:t>getDevicesByUser</a:t>
            </a:r>
            <a:r>
              <a:rPr lang="en-IN" dirty="0"/>
              <a:t>(</a:t>
            </a:r>
            <a:r>
              <a:rPr lang="en-IN" dirty="0" err="1"/>
              <a:t>ownerId</a:t>
            </a:r>
            <a:r>
              <a:rPr lang="en-IN" dirty="0"/>
              <a:t>)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B62F00D-E58A-7147-C948-DB81023EE8FB}"/>
              </a:ext>
            </a:extLst>
          </p:cNvPr>
          <p:cNvSpPr txBox="1"/>
          <p:nvPr/>
        </p:nvSpPr>
        <p:spPr>
          <a:xfrm>
            <a:off x="5560741" y="1729178"/>
            <a:ext cx="247557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err="1"/>
              <a:t>DeviceRepository</a:t>
            </a:r>
            <a:endParaRPr lang="en-IN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D4BE109-DF1F-ED26-D02D-ED6AFEB2406B}"/>
              </a:ext>
            </a:extLst>
          </p:cNvPr>
          <p:cNvSpPr txBox="1"/>
          <p:nvPr/>
        </p:nvSpPr>
        <p:spPr>
          <a:xfrm>
            <a:off x="5114693" y="2416098"/>
            <a:ext cx="279523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err="1"/>
              <a:t>saveDevice</a:t>
            </a:r>
            <a:r>
              <a:rPr lang="en-IN" dirty="0"/>
              <a:t>(Device)       </a:t>
            </a:r>
          </a:p>
          <a:p>
            <a:r>
              <a:rPr lang="en-IN" dirty="0" err="1"/>
              <a:t>getDeviceById</a:t>
            </a:r>
            <a:r>
              <a:rPr lang="en-IN" dirty="0"/>
              <a:t>(id):Device </a:t>
            </a:r>
          </a:p>
          <a:p>
            <a:r>
              <a:rPr lang="en-IN" dirty="0" err="1"/>
              <a:t>updateDevice</a:t>
            </a:r>
            <a:r>
              <a:rPr lang="en-IN" dirty="0"/>
              <a:t>(Device)    </a:t>
            </a:r>
          </a:p>
          <a:p>
            <a:r>
              <a:rPr lang="en-IN" dirty="0" err="1"/>
              <a:t>deleteDevice</a:t>
            </a:r>
            <a:r>
              <a:rPr lang="en-IN" dirty="0"/>
              <a:t>(id) </a:t>
            </a:r>
          </a:p>
        </p:txBody>
      </p:sp>
    </p:spTree>
    <p:extLst>
      <p:ext uri="{BB962C8B-B14F-4D97-AF65-F5344CB8AC3E}">
        <p14:creationId xmlns:p14="http://schemas.microsoft.com/office/powerpoint/2010/main" val="317277574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9D2010-27C0-E346-A469-BBF609A465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9D3150-5117-EFCB-C5DE-295D18F7E2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Db schema for module 2: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BC174A-8184-9E22-6B8B-45F22EE9BA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46050" indent="0">
              <a:buNone/>
            </a:pPr>
            <a:r>
              <a:rPr lang="en-IN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CREATE TABLE devices (</a:t>
            </a:r>
          </a:p>
          <a:p>
            <a:pPr marL="146050" indent="0">
              <a:buNone/>
            </a:pPr>
            <a:r>
              <a:rPr lang="en-IN" dirty="0" err="1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device_id</a:t>
            </a:r>
            <a:r>
              <a:rPr lang="en-IN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BIGINT PRIMARY KEY AUTO_INCREMENT,</a:t>
            </a:r>
          </a:p>
          <a:p>
            <a:pPr marL="146050" indent="0">
              <a:buNone/>
            </a:pPr>
            <a:r>
              <a:rPr lang="en-IN" dirty="0" err="1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device_name</a:t>
            </a:r>
            <a:r>
              <a:rPr lang="en-IN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VARCHAR(100) NOT NULL,</a:t>
            </a:r>
          </a:p>
          <a:p>
            <a:pPr marL="146050" indent="0">
              <a:buNone/>
            </a:pPr>
            <a:r>
              <a:rPr lang="en-IN" dirty="0" err="1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device_type</a:t>
            </a:r>
            <a:r>
              <a:rPr lang="en-IN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VARCHAR(50),</a:t>
            </a:r>
          </a:p>
          <a:p>
            <a:pPr marL="146050" indent="0">
              <a:buNone/>
            </a:pPr>
            <a:r>
              <a:rPr lang="en-IN" dirty="0" err="1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Sensorstatus</a:t>
            </a:r>
            <a:r>
              <a:rPr lang="en-IN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VARCHAR(20),</a:t>
            </a:r>
          </a:p>
          <a:p>
            <a:pPr marL="146050" indent="0">
              <a:buNone/>
            </a:pPr>
            <a:r>
              <a:rPr lang="en-IN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ON/</a:t>
            </a:r>
            <a:r>
              <a:rPr lang="en-IN" dirty="0" err="1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OFFlocation</a:t>
            </a:r>
            <a:r>
              <a:rPr lang="en-IN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VARCHAR(100),</a:t>
            </a:r>
          </a:p>
          <a:p>
            <a:pPr marL="146050" indent="0">
              <a:buNone/>
            </a:pPr>
            <a:r>
              <a:rPr lang="en-IN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Room </a:t>
            </a:r>
            <a:r>
              <a:rPr lang="en-IN" dirty="0" err="1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nameip_address</a:t>
            </a:r>
            <a:r>
              <a:rPr lang="en-IN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VARCHAR(50),</a:t>
            </a:r>
          </a:p>
          <a:p>
            <a:pPr marL="146050" indent="0">
              <a:buNone/>
            </a:pPr>
            <a:r>
              <a:rPr lang="en-IN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Config TEXT,</a:t>
            </a:r>
          </a:p>
          <a:p>
            <a:pPr marL="146050" indent="0">
              <a:buNone/>
            </a:pPr>
            <a:r>
              <a:rPr lang="en-IN" dirty="0" err="1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last_updated</a:t>
            </a:r>
            <a:r>
              <a:rPr lang="en-IN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TIMESTAMP DEFAULT CURRENT_TIMESTAMP</a:t>
            </a:r>
          </a:p>
          <a:p>
            <a:pPr marL="146050" indent="0">
              <a:buNone/>
            </a:pPr>
            <a:r>
              <a:rPr lang="en-IN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97185880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1AEB7A-9A67-3BC5-5A07-4F3AC937FF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09FD352-F499-CAFF-E324-B9FE350C29E1}"/>
              </a:ext>
            </a:extLst>
          </p:cNvPr>
          <p:cNvSpPr txBox="1"/>
          <p:nvPr/>
        </p:nvSpPr>
        <p:spPr>
          <a:xfrm>
            <a:off x="557561" y="802035"/>
            <a:ext cx="3397405" cy="32547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 Device {</a:t>
            </a:r>
          </a:p>
          <a:p>
            <a:r>
              <a:rPr lang="en-IN" sz="12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Long </a:t>
            </a:r>
            <a:r>
              <a:rPr lang="en-IN" sz="1200" dirty="0" err="1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deviceld</a:t>
            </a:r>
            <a:r>
              <a:rPr lang="en-IN" sz="12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r>
              <a:rPr lang="en-IN" sz="12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String </a:t>
            </a:r>
            <a:r>
              <a:rPr lang="en-IN" sz="1200" dirty="0" err="1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deviceName</a:t>
            </a:r>
            <a:r>
              <a:rPr lang="en-IN" sz="12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r>
              <a:rPr lang="en-IN" sz="12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String </a:t>
            </a:r>
            <a:r>
              <a:rPr lang="en-IN" sz="1200" dirty="0" err="1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deviceType</a:t>
            </a:r>
            <a:r>
              <a:rPr lang="en-IN" sz="12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r>
              <a:rPr lang="en-IN" sz="12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String status;</a:t>
            </a:r>
          </a:p>
          <a:p>
            <a:r>
              <a:rPr lang="en-IN" sz="12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String location;</a:t>
            </a:r>
          </a:p>
          <a:p>
            <a:r>
              <a:rPr lang="en-IN" sz="12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String </a:t>
            </a:r>
            <a:r>
              <a:rPr lang="en-IN" sz="1200" dirty="0" err="1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ipAddress</a:t>
            </a:r>
            <a:r>
              <a:rPr lang="en-IN" sz="12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r>
              <a:rPr lang="en-IN" sz="12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String config;</a:t>
            </a:r>
          </a:p>
          <a:p>
            <a:r>
              <a:rPr lang="en-IN" sz="12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endParaRPr lang="en-IN" sz="1200" dirty="0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1200" dirty="0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1200" dirty="0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2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 </a:t>
            </a:r>
            <a:r>
              <a:rPr lang="en-US" sz="1200" dirty="0" err="1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DeviceRepository</a:t>
            </a:r>
            <a:r>
              <a:rPr lang="en-US" sz="12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{</a:t>
            </a:r>
          </a:p>
          <a:p>
            <a:r>
              <a:rPr lang="en-US" sz="12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save (Device)</a:t>
            </a:r>
          </a:p>
          <a:p>
            <a:r>
              <a:rPr lang="en-US" sz="1200" dirty="0" err="1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findAll</a:t>
            </a:r>
            <a:r>
              <a:rPr lang="en-US" sz="12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  <a:p>
            <a:r>
              <a:rPr lang="en-US" sz="12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en-IN" sz="1200" dirty="0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063E1F1-538E-E432-81B4-5EBE00E32FF3}"/>
              </a:ext>
            </a:extLst>
          </p:cNvPr>
          <p:cNvSpPr txBox="1"/>
          <p:nvPr/>
        </p:nvSpPr>
        <p:spPr>
          <a:xfrm>
            <a:off x="5032917" y="951571"/>
            <a:ext cx="2847278" cy="2893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/>
            <a:r>
              <a:rPr lang="en-IN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 </a:t>
            </a:r>
            <a:r>
              <a:rPr lang="en-IN" dirty="0" err="1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DeviceService</a:t>
            </a:r>
            <a:r>
              <a:rPr lang="en-IN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{</a:t>
            </a:r>
          </a:p>
          <a:p>
            <a:pPr marL="0" indent="0"/>
            <a:r>
              <a:rPr lang="en-IN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dirty="0" err="1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addDevice</a:t>
            </a:r>
            <a:r>
              <a:rPr lang="en-IN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  <a:p>
            <a:pPr marL="0" indent="0"/>
            <a:r>
              <a:rPr lang="en-IN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dirty="0" err="1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updateStatus</a:t>
            </a:r>
            <a:r>
              <a:rPr lang="en-IN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  <a:p>
            <a:pPr marL="0" indent="0"/>
            <a:r>
              <a:rPr lang="en-IN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pPr marL="0" indent="0"/>
            <a:endParaRPr lang="en-IN" dirty="0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/>
            <a:endParaRPr lang="en-IN" dirty="0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/>
            <a:endParaRPr lang="en-IN" dirty="0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/>
            <a:endParaRPr lang="en-IN" dirty="0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/>
            <a:r>
              <a:rPr lang="en-IN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 </a:t>
            </a:r>
            <a:r>
              <a:rPr lang="en-IN" dirty="0" err="1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DeviceController</a:t>
            </a:r>
            <a:r>
              <a:rPr lang="en-IN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{</a:t>
            </a:r>
          </a:p>
          <a:p>
            <a:pPr marL="0" indent="0"/>
            <a:r>
              <a:rPr lang="en-IN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/</a:t>
            </a:r>
            <a:r>
              <a:rPr lang="en-IN" dirty="0" err="1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addDevice</a:t>
            </a:r>
            <a:endParaRPr lang="en-IN" dirty="0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/>
            <a:r>
              <a:rPr lang="en-IN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/</a:t>
            </a:r>
            <a:r>
              <a:rPr lang="en-IN" dirty="0" err="1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toggleDevice</a:t>
            </a:r>
            <a:endParaRPr lang="en-IN" dirty="0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/>
            <a:r>
              <a:rPr lang="en-IN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2275191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41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Pseudocode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9" name="Google Shape;339;p41"/>
          <p:cNvSpPr txBox="1">
            <a:spLocks noGrp="1"/>
          </p:cNvSpPr>
          <p:nvPr>
            <p:ph type="body" idx="1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buNone/>
            </a:pPr>
            <a:r>
              <a:rPr lang="en-IN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 </a:t>
            </a:r>
            <a:r>
              <a:rPr lang="en-IN" dirty="0" err="1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SmartDevice</a:t>
            </a:r>
            <a:endParaRPr lang="en-IN" dirty="0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>
              <a:buNone/>
            </a:pPr>
            <a:r>
              <a:rPr lang="en-IN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VARIABLE </a:t>
            </a:r>
            <a:r>
              <a:rPr lang="en-IN" dirty="0" err="1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devic</a:t>
            </a:r>
            <a:r>
              <a:rPr lang="en-IN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VARIABLE </a:t>
            </a:r>
            <a:r>
              <a:rPr lang="en-IN" dirty="0" err="1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deviceliane</a:t>
            </a:r>
            <a:endParaRPr lang="en-IN" dirty="0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>
              <a:buNone/>
            </a:pPr>
            <a:r>
              <a:rPr lang="en-IN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VARIABLE </a:t>
            </a:r>
            <a:r>
              <a:rPr lang="en-IN" dirty="0" err="1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deviceType</a:t>
            </a:r>
            <a:endParaRPr lang="en-IN" dirty="0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>
              <a:buNone/>
            </a:pPr>
            <a:r>
              <a:rPr lang="en-IN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VARIABLE </a:t>
            </a:r>
            <a:r>
              <a:rPr lang="en-IN" dirty="0" err="1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powerus</a:t>
            </a:r>
            <a:r>
              <a:rPr lang="en-IN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age</a:t>
            </a:r>
          </a:p>
          <a:p>
            <a:pPr marL="0" lvl="0" indent="0">
              <a:buNone/>
            </a:pPr>
            <a:r>
              <a:rPr lang="en-US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FUNCTION </a:t>
            </a:r>
            <a:r>
              <a:rPr lang="en-US" dirty="0" err="1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createDevice</a:t>
            </a:r>
            <a:r>
              <a:rPr lang="en-US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(id, name, type, </a:t>
            </a:r>
            <a:r>
              <a:rPr lang="en-US" dirty="0" err="1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ромет</a:t>
            </a:r>
            <a:r>
              <a:rPr lang="en-US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0" lvl="0" indent="0">
              <a:buNone/>
            </a:pPr>
            <a:r>
              <a:rPr lang="en-US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SET </a:t>
            </a:r>
            <a:r>
              <a:rPr lang="en-US" dirty="0" err="1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deviceld</a:t>
            </a:r>
            <a:r>
              <a:rPr lang="en-US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id</a:t>
            </a:r>
          </a:p>
          <a:p>
            <a:pPr marL="0" lvl="0" indent="0">
              <a:buNone/>
            </a:pPr>
            <a:r>
              <a:rPr lang="en-US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SET </a:t>
            </a:r>
            <a:r>
              <a:rPr lang="en-US" dirty="0" err="1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devicekame</a:t>
            </a:r>
            <a:r>
              <a:rPr lang="en-US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SET </a:t>
            </a:r>
            <a:r>
              <a:rPr lang="en-US" dirty="0" err="1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deviceType</a:t>
            </a:r>
            <a:r>
              <a:rPr lang="en-US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name</a:t>
            </a:r>
          </a:p>
          <a:p>
            <a:pPr marL="0" lvl="0" indent="0">
              <a:buNone/>
            </a:pPr>
            <a:r>
              <a:rPr lang="en-US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SET </a:t>
            </a:r>
            <a:r>
              <a:rPr lang="en-US" dirty="0" err="1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powerUsage</a:t>
            </a:r>
            <a:r>
              <a:rPr lang="en-US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type power</a:t>
            </a:r>
          </a:p>
          <a:p>
            <a:pPr marL="0" lvl="0" indent="0">
              <a:buNone/>
            </a:pPr>
            <a:r>
              <a:rPr lang="en-US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SET status OFF</a:t>
            </a:r>
          </a:p>
          <a:p>
            <a:pPr marL="0" lvl="0" indent="0">
              <a:buNone/>
            </a:pPr>
            <a:r>
              <a:rPr lang="en-US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END FUNCTION END CLASS</a:t>
            </a:r>
            <a:endParaRPr dirty="0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B69631C-D2A6-0B7F-1261-350B0DC271FC}"/>
              </a:ext>
            </a:extLst>
          </p:cNvPr>
          <p:cNvSpPr txBox="1"/>
          <p:nvPr/>
        </p:nvSpPr>
        <p:spPr>
          <a:xfrm>
            <a:off x="401444" y="944137"/>
            <a:ext cx="8318810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DeviceRepository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saveDevice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(device)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CONNECT to database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INSERT device details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CLOSE connection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END FUNCTION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FindDevice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deviceld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CONNECT to database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SEARCH device using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deviceld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RETURN device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CLOSE connection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END FUNCTION</a:t>
            </a:r>
          </a:p>
        </p:txBody>
      </p:sp>
    </p:spTree>
    <p:extLst>
      <p:ext uri="{BB962C8B-B14F-4D97-AF65-F5344CB8AC3E}">
        <p14:creationId xmlns:p14="http://schemas.microsoft.com/office/powerpoint/2010/main" val="146617036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DEEA11-544D-5FB2-C9F7-DBF2EAC1EF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CA994BF-1161-861C-CBF2-0F42DC10702B}"/>
              </a:ext>
            </a:extLst>
          </p:cNvPr>
          <p:cNvSpPr txBox="1"/>
          <p:nvPr/>
        </p:nvSpPr>
        <p:spPr>
          <a:xfrm>
            <a:off x="557561" y="802035"/>
            <a:ext cx="8318810" cy="40395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 </a:t>
            </a:r>
            <a:r>
              <a:rPr lang="en-IN" sz="13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DeviceService</a:t>
            </a:r>
            <a:endParaRPr lang="en-IN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VARIABLE </a:t>
            </a:r>
            <a:r>
              <a:rPr lang="en-IN" sz="13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deviceRepository</a:t>
            </a:r>
            <a:endParaRPr lang="en-IN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 </a:t>
            </a:r>
            <a:r>
              <a:rPr lang="en-IN" sz="13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addDevice</a:t>
            </a:r>
            <a:r>
              <a:rPr lang="en-IN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(device)</a:t>
            </a:r>
          </a:p>
          <a:p>
            <a:r>
              <a:rPr lang="en-IN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IN" sz="13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deviceRepository.saveDevice</a:t>
            </a:r>
            <a:r>
              <a:rPr lang="en-IN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(device)</a:t>
            </a:r>
          </a:p>
          <a:p>
            <a:r>
              <a:rPr lang="en-IN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DISPLAY "Device added successfully"</a:t>
            </a:r>
          </a:p>
          <a:p>
            <a:r>
              <a:rPr lang="en-IN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END FUNCTION</a:t>
            </a:r>
          </a:p>
          <a:p>
            <a:endParaRPr lang="en-IN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 </a:t>
            </a:r>
            <a:r>
              <a:rPr lang="en-IN" sz="13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turnon</a:t>
            </a:r>
            <a:r>
              <a:rPr lang="en-IN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13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deviceId</a:t>
            </a:r>
            <a:r>
              <a:rPr lang="en-IN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en-IN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device </a:t>
            </a:r>
            <a:r>
              <a:rPr lang="en-IN" sz="13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deviceRepository.findDevice</a:t>
            </a:r>
            <a:r>
              <a:rPr lang="en-IN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13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deviceId</a:t>
            </a:r>
            <a:r>
              <a:rPr lang="en-IN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en-IN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SET </a:t>
            </a:r>
            <a:r>
              <a:rPr lang="en-IN" sz="13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device.status</a:t>
            </a:r>
            <a:r>
              <a:rPr lang="en-IN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ON</a:t>
            </a:r>
          </a:p>
          <a:p>
            <a:r>
              <a:rPr lang="en-IN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DISPLAY "Device turned ON</a:t>
            </a:r>
          </a:p>
          <a:p>
            <a:r>
              <a:rPr lang="en-IN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END FUNCTION</a:t>
            </a:r>
          </a:p>
          <a:p>
            <a:endParaRPr lang="en-IN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 turnoff(</a:t>
            </a:r>
            <a:r>
              <a:rPr lang="en-US" sz="13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deviceld</a:t>
            </a:r>
            <a:r>
              <a:rPr lang="en-US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en-US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device </a:t>
            </a:r>
            <a:r>
              <a:rPr lang="en-US" sz="13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deviceRepository.findDevice</a:t>
            </a:r>
            <a:r>
              <a:rPr lang="en-US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3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deviceId</a:t>
            </a:r>
            <a:r>
              <a:rPr lang="en-US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en-US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SET </a:t>
            </a:r>
            <a:r>
              <a:rPr lang="en-US" sz="13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device.status</a:t>
            </a:r>
            <a:r>
              <a:rPr lang="en-US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OFF</a:t>
            </a:r>
          </a:p>
          <a:p>
            <a:r>
              <a:rPr lang="en-US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DISPLAY "Device turned OFF</a:t>
            </a:r>
          </a:p>
          <a:p>
            <a:r>
              <a:rPr lang="en-US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END FUNCTION END CLASS</a:t>
            </a:r>
            <a:endParaRPr lang="en-IN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0978720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9E185A-4B2D-2351-3A6E-BF60E2BADC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83E9AC1-A9B6-A189-B04F-AF6C714267FA}"/>
              </a:ext>
            </a:extLst>
          </p:cNvPr>
          <p:cNvSpPr txBox="1"/>
          <p:nvPr/>
        </p:nvSpPr>
        <p:spPr>
          <a:xfrm>
            <a:off x="557561" y="802035"/>
            <a:ext cx="831881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 </a:t>
            </a:r>
            <a:r>
              <a:rPr lang="en-IN" sz="13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DeviceController</a:t>
            </a:r>
            <a:endParaRPr lang="en-IN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VARIABLE </a:t>
            </a:r>
            <a:r>
              <a:rPr lang="en-IN" sz="13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deviceService</a:t>
            </a:r>
            <a:r>
              <a:rPr lang="en-IN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IN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 </a:t>
            </a:r>
            <a:r>
              <a:rPr lang="en-IN" sz="13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addDevice</a:t>
            </a:r>
            <a:r>
              <a:rPr lang="en-IN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(device) </a:t>
            </a:r>
          </a:p>
          <a:p>
            <a:r>
              <a:rPr lang="en-IN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en-IN" sz="13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deviceService.addDevice</a:t>
            </a:r>
            <a:r>
              <a:rPr lang="en-IN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(device)</a:t>
            </a:r>
          </a:p>
          <a:p>
            <a:r>
              <a:rPr lang="en-IN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END FUNCTION</a:t>
            </a:r>
          </a:p>
          <a:p>
            <a:endParaRPr lang="en-IN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 </a:t>
            </a:r>
            <a:r>
              <a:rPr lang="en-IN" sz="13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turnOnDevice</a:t>
            </a:r>
            <a:r>
              <a:rPr lang="en-IN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13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deviceId</a:t>
            </a:r>
            <a:r>
              <a:rPr lang="en-IN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</a:p>
          <a:p>
            <a:r>
              <a:rPr lang="en-IN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en-IN" sz="13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deviceService.turnOn</a:t>
            </a:r>
            <a:r>
              <a:rPr lang="en-IN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13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deviceld</a:t>
            </a:r>
            <a:r>
              <a:rPr lang="en-IN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en-IN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END FUNCTION</a:t>
            </a:r>
          </a:p>
          <a:p>
            <a:endParaRPr lang="en-IN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 </a:t>
            </a:r>
            <a:r>
              <a:rPr lang="en-IN" sz="13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turnOf+Device</a:t>
            </a:r>
            <a:r>
              <a:rPr lang="en-IN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13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deviceld</a:t>
            </a:r>
            <a:r>
              <a:rPr lang="en-IN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en-IN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IN" sz="13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deviceService.turnOff</a:t>
            </a:r>
            <a:r>
              <a:rPr lang="en-IN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13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deviceld</a:t>
            </a:r>
            <a:r>
              <a:rPr lang="en-IN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en-IN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END FUNCTION</a:t>
            </a:r>
          </a:p>
          <a:p>
            <a:endParaRPr lang="en-IN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END CLASS</a:t>
            </a:r>
          </a:p>
        </p:txBody>
      </p:sp>
    </p:spTree>
    <p:extLst>
      <p:ext uri="{BB962C8B-B14F-4D97-AF65-F5344CB8AC3E}">
        <p14:creationId xmlns:p14="http://schemas.microsoft.com/office/powerpoint/2010/main" val="365866086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8">
          <a:extLst>
            <a:ext uri="{FF2B5EF4-FFF2-40B4-BE49-F238E27FC236}">
              <a16:creationId xmlns:a16="http://schemas.microsoft.com/office/drawing/2014/main" id="{107889FF-8A4E-E99C-D717-257D5478D9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39">
            <a:extLst>
              <a:ext uri="{FF2B5EF4-FFF2-40B4-BE49-F238E27FC236}">
                <a16:creationId xmlns:a16="http://schemas.microsoft.com/office/drawing/2014/main" id="{4EBF1010-067C-C208-7333-88BD19341DB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fr-FR" sz="28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3:Real-Time Energy </a:t>
            </a:r>
            <a:r>
              <a:rPr lang="fr-FR" sz="2800" dirty="0" err="1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Tracking</a:t>
            </a:r>
            <a:br>
              <a:rPr lang="fr-FR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sz="3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C7C1178-387D-91A7-23F4-774653C763EA}"/>
              </a:ext>
            </a:extLst>
          </p:cNvPr>
          <p:cNvSpPr txBox="1"/>
          <p:nvPr/>
        </p:nvSpPr>
        <p:spPr>
          <a:xfrm>
            <a:off x="729450" y="2200507"/>
            <a:ext cx="7098706" cy="23544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b="1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ACTIVITIES:</a:t>
            </a:r>
            <a:endParaRPr lang="en-US" sz="135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Collect real-time electricity usage data from each smart device.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Monitor and update current power consumption continuously.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Calculate energy usage based on device power rating and time.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Store usage details in the database as historical logs.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Provide live energy consumption data to the user dashboard.</a:t>
            </a:r>
            <a:endParaRPr lang="fr-FR" dirty="0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2531451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3D475B-F9B2-673C-BEB0-C79077FF40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450145-9405-83E7-BE6B-3FA0A50E0C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NUMBER OF CLASSES IN MODULE 3:</a:t>
            </a:r>
            <a:endParaRPr lang="en-IN" sz="24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8B00C3-CC0F-ED22-9BD4-7E95D4415E4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46050" indent="0">
              <a:buNone/>
            </a:pPr>
            <a:r>
              <a:rPr lang="en-IN" sz="1400" b="1" dirty="0" err="1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UsageLog</a:t>
            </a:r>
            <a:r>
              <a:rPr lang="en-IN" sz="1400" b="1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146050" indent="0">
              <a:buNone/>
            </a:pPr>
            <a:r>
              <a:rPr lang="en-IN" sz="12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Represents energy usage data</a:t>
            </a:r>
          </a:p>
          <a:p>
            <a:pPr marL="146050" indent="0">
              <a:buNone/>
            </a:pPr>
            <a:r>
              <a:rPr lang="en-IN" sz="1400" b="1" dirty="0" err="1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EnergyTrackingController</a:t>
            </a:r>
            <a:r>
              <a:rPr lang="en-IN" sz="1400" b="1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146050" indent="0">
              <a:buNone/>
            </a:pPr>
            <a:r>
              <a:rPr lang="en-IN" sz="12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Handles requests for energy data and Sends real-time usage to UI</a:t>
            </a:r>
          </a:p>
          <a:p>
            <a:pPr marL="146050" indent="0">
              <a:buNone/>
            </a:pPr>
            <a:r>
              <a:rPr lang="en-IN" sz="1400" b="1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EnergyTrackingService:</a:t>
            </a:r>
          </a:p>
          <a:p>
            <a:pPr marL="146050" indent="0">
              <a:buNone/>
            </a:pPr>
            <a:r>
              <a:rPr lang="en-IN" sz="12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Calculates energy consumption and Processes real-time metrics</a:t>
            </a:r>
          </a:p>
          <a:p>
            <a:pPr marL="146050" indent="0">
              <a:buNone/>
            </a:pPr>
            <a:r>
              <a:rPr lang="en-IN" sz="1400" b="1" dirty="0" err="1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UsageRepository</a:t>
            </a:r>
            <a:r>
              <a:rPr lang="en-IN" sz="1400" b="1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146050" indent="0">
              <a:buNone/>
            </a:pPr>
            <a:r>
              <a:rPr lang="en-IN" sz="12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Stores and retrieves usage logs from database</a:t>
            </a:r>
          </a:p>
          <a:p>
            <a:pPr marL="146050" indent="0">
              <a:buNone/>
            </a:pPr>
            <a:endParaRPr lang="en-IN" sz="1200" dirty="0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67509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3590EE-BB9F-3A0F-6468-48FE596037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50BC55-42E2-68D5-9041-091B50A940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 diagram </a:t>
            </a:r>
            <a:endParaRPr lang="en-IN" sz="2800" dirty="0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7CC7713-0E20-3DD8-1865-864931F5D05B}"/>
              </a:ext>
            </a:extLst>
          </p:cNvPr>
          <p:cNvSpPr/>
          <p:nvPr/>
        </p:nvSpPr>
        <p:spPr>
          <a:xfrm>
            <a:off x="929268" y="2126208"/>
            <a:ext cx="2445834" cy="286751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F49202E-5840-B338-82DF-4222E64B4C7A}"/>
              </a:ext>
            </a:extLst>
          </p:cNvPr>
          <p:cNvCxnSpPr/>
          <p:nvPr/>
        </p:nvCxnSpPr>
        <p:spPr>
          <a:xfrm>
            <a:off x="929268" y="2787805"/>
            <a:ext cx="244583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274B620-C81A-3944-16F9-8C93EF473816}"/>
              </a:ext>
            </a:extLst>
          </p:cNvPr>
          <p:cNvCxnSpPr/>
          <p:nvPr/>
        </p:nvCxnSpPr>
        <p:spPr>
          <a:xfrm>
            <a:off x="929268" y="4326673"/>
            <a:ext cx="244583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3EFD7ECA-4F6D-D368-045E-4554B22942DC}"/>
              </a:ext>
            </a:extLst>
          </p:cNvPr>
          <p:cNvSpPr txBox="1"/>
          <p:nvPr/>
        </p:nvSpPr>
        <p:spPr>
          <a:xfrm>
            <a:off x="1523999" y="2340988"/>
            <a:ext cx="17024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 </a:t>
            </a:r>
            <a:r>
              <a:rPr lang="en-IN" dirty="0" err="1"/>
              <a:t>UsageLog</a:t>
            </a:r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D9E1FB6-DF42-A972-21E2-4932D6C7C5CB}"/>
              </a:ext>
            </a:extLst>
          </p:cNvPr>
          <p:cNvSpPr txBox="1"/>
          <p:nvPr/>
        </p:nvSpPr>
        <p:spPr>
          <a:xfrm>
            <a:off x="1248935" y="2972349"/>
            <a:ext cx="225254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err="1"/>
              <a:t>logId</a:t>
            </a:r>
            <a:r>
              <a:rPr lang="en-IN" dirty="0"/>
              <a:t> : int               </a:t>
            </a:r>
            <a:r>
              <a:rPr lang="en-IN" dirty="0" err="1"/>
              <a:t>deviceId</a:t>
            </a:r>
            <a:r>
              <a:rPr lang="en-IN" dirty="0"/>
              <a:t> : String         </a:t>
            </a:r>
            <a:r>
              <a:rPr lang="en-IN" dirty="0" err="1"/>
              <a:t>powerUsed</a:t>
            </a:r>
            <a:r>
              <a:rPr lang="en-IN" dirty="0"/>
              <a:t> : double       timestamp : Date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015BAD1-AE0E-00B0-8467-FCCFB3657F66}"/>
              </a:ext>
            </a:extLst>
          </p:cNvPr>
          <p:cNvSpPr txBox="1"/>
          <p:nvPr/>
        </p:nvSpPr>
        <p:spPr>
          <a:xfrm>
            <a:off x="1196897" y="4475395"/>
            <a:ext cx="202952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err="1"/>
              <a:t>getUsageDetails</a:t>
            </a:r>
            <a:r>
              <a:rPr lang="en-IN" dirty="0"/>
              <a:t>() 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9967A65-AC28-D0D5-1457-09D7498A3562}"/>
              </a:ext>
            </a:extLst>
          </p:cNvPr>
          <p:cNvSpPr/>
          <p:nvPr/>
        </p:nvSpPr>
        <p:spPr>
          <a:xfrm>
            <a:off x="5360018" y="2126208"/>
            <a:ext cx="2535047" cy="259447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D152E7CD-B6FE-2FA8-761D-08B3131A222B}"/>
              </a:ext>
            </a:extLst>
          </p:cNvPr>
          <p:cNvCxnSpPr>
            <a:cxnSpLocks/>
          </p:cNvCxnSpPr>
          <p:nvPr/>
        </p:nvCxnSpPr>
        <p:spPr>
          <a:xfrm>
            <a:off x="5382321" y="2787805"/>
            <a:ext cx="251274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A46365EF-ACCC-A70B-7803-B8D9202B5BC9}"/>
              </a:ext>
            </a:extLst>
          </p:cNvPr>
          <p:cNvSpPr txBox="1"/>
          <p:nvPr/>
        </p:nvSpPr>
        <p:spPr>
          <a:xfrm>
            <a:off x="5456663" y="2309791"/>
            <a:ext cx="2341755" cy="3077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  </a:t>
            </a:r>
            <a:r>
              <a:rPr lang="en-IN" dirty="0" err="1"/>
              <a:t>EnergyTrackingController</a:t>
            </a:r>
            <a:r>
              <a:rPr lang="en-IN" dirty="0"/>
              <a:t> 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BA4A8E8-1B52-664B-CDED-E5370A6FB876}"/>
              </a:ext>
            </a:extLst>
          </p:cNvPr>
          <p:cNvSpPr txBox="1"/>
          <p:nvPr/>
        </p:nvSpPr>
        <p:spPr>
          <a:xfrm>
            <a:off x="5668536" y="3025698"/>
            <a:ext cx="244583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service : EnergyTrackingService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8407BCA1-71DF-2D7A-B6C0-93659D9FBAEC}"/>
              </a:ext>
            </a:extLst>
          </p:cNvPr>
          <p:cNvCxnSpPr>
            <a:cxnSpLocks/>
          </p:cNvCxnSpPr>
          <p:nvPr/>
        </p:nvCxnSpPr>
        <p:spPr>
          <a:xfrm>
            <a:off x="5360018" y="3919022"/>
            <a:ext cx="253504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3A266B57-F286-4719-D668-8CB85DAD1A1F}"/>
              </a:ext>
            </a:extLst>
          </p:cNvPr>
          <p:cNvSpPr txBox="1"/>
          <p:nvPr/>
        </p:nvSpPr>
        <p:spPr>
          <a:xfrm>
            <a:off x="5412056" y="4018856"/>
            <a:ext cx="253504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err="1"/>
              <a:t>getRealTimeUsage</a:t>
            </a:r>
            <a:r>
              <a:rPr lang="en-IN" dirty="0"/>
              <a:t>(</a:t>
            </a:r>
            <a:r>
              <a:rPr lang="en-IN" dirty="0" err="1"/>
              <a:t>deviceId</a:t>
            </a:r>
            <a:r>
              <a:rPr lang="en-IN" dirty="0"/>
              <a:t>) </a:t>
            </a:r>
            <a:r>
              <a:rPr lang="en-IN" dirty="0" err="1"/>
              <a:t>getUsageReport</a:t>
            </a:r>
            <a:r>
              <a:rPr lang="en-IN" dirty="0"/>
              <a:t>(</a:t>
            </a:r>
            <a:r>
              <a:rPr lang="en-IN" dirty="0" err="1"/>
              <a:t>deviceId</a:t>
            </a:r>
            <a:r>
              <a:rPr lang="en-IN" dirty="0"/>
              <a:t>) </a:t>
            </a:r>
          </a:p>
        </p:txBody>
      </p:sp>
    </p:spTree>
    <p:extLst>
      <p:ext uri="{BB962C8B-B14F-4D97-AF65-F5344CB8AC3E}">
        <p14:creationId xmlns:p14="http://schemas.microsoft.com/office/powerpoint/2010/main" val="21515060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945240-4AB7-E161-55A0-E3EA79DFB9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D1E7FC4-BAF4-C774-F10E-4C4C2B87D3A5}"/>
              </a:ext>
            </a:extLst>
          </p:cNvPr>
          <p:cNvSpPr/>
          <p:nvPr/>
        </p:nvSpPr>
        <p:spPr>
          <a:xfrm>
            <a:off x="765717" y="1598341"/>
            <a:ext cx="3003395" cy="238636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91D4CF8-4FE1-B6C3-DB94-DA32A6244389}"/>
              </a:ext>
            </a:extLst>
          </p:cNvPr>
          <p:cNvSpPr/>
          <p:nvPr/>
        </p:nvSpPr>
        <p:spPr>
          <a:xfrm>
            <a:off x="4980878" y="1598340"/>
            <a:ext cx="3055434" cy="238636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D547B637-4F79-A437-1554-2C16E51CAD31}"/>
              </a:ext>
            </a:extLst>
          </p:cNvPr>
          <p:cNvCxnSpPr/>
          <p:nvPr/>
        </p:nvCxnSpPr>
        <p:spPr>
          <a:xfrm>
            <a:off x="765717" y="2155902"/>
            <a:ext cx="300339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B9DD97D-5FC2-62F9-8A05-4543524FD7A9}"/>
              </a:ext>
            </a:extLst>
          </p:cNvPr>
          <p:cNvCxnSpPr/>
          <p:nvPr/>
        </p:nvCxnSpPr>
        <p:spPr>
          <a:xfrm>
            <a:off x="4980878" y="2155902"/>
            <a:ext cx="305543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46113FDA-58E8-DD07-C0D4-AAB03B3D9DA5}"/>
              </a:ext>
            </a:extLst>
          </p:cNvPr>
          <p:cNvSpPr txBox="1"/>
          <p:nvPr/>
        </p:nvSpPr>
        <p:spPr>
          <a:xfrm>
            <a:off x="1107688" y="1694397"/>
            <a:ext cx="25722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EnergyTrackingService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37BA565-8B4D-F20B-F3D0-95D221C7C62B}"/>
              </a:ext>
            </a:extLst>
          </p:cNvPr>
          <p:cNvSpPr txBox="1"/>
          <p:nvPr/>
        </p:nvSpPr>
        <p:spPr>
          <a:xfrm>
            <a:off x="973873" y="2349190"/>
            <a:ext cx="264655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repository : </a:t>
            </a:r>
            <a:r>
              <a:rPr lang="en-IN" dirty="0" err="1"/>
              <a:t>UsageRepository</a:t>
            </a:r>
            <a:endParaRPr lang="en-I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EAFCF16-A20D-CBAE-92F1-96633981FE42}"/>
              </a:ext>
            </a:extLst>
          </p:cNvPr>
          <p:cNvSpPr txBox="1"/>
          <p:nvPr/>
        </p:nvSpPr>
        <p:spPr>
          <a:xfrm>
            <a:off x="5560741" y="1741818"/>
            <a:ext cx="247557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 </a:t>
            </a:r>
            <a:r>
              <a:rPr lang="en-IN" dirty="0" err="1"/>
              <a:t>UsageRepository</a:t>
            </a:r>
            <a:r>
              <a:rPr lang="en-IN" dirty="0"/>
              <a:t>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DDF6B2B-DFCB-10E0-654C-EC97D64B96CC}"/>
              </a:ext>
            </a:extLst>
          </p:cNvPr>
          <p:cNvSpPr txBox="1"/>
          <p:nvPr/>
        </p:nvSpPr>
        <p:spPr>
          <a:xfrm>
            <a:off x="5374888" y="2405688"/>
            <a:ext cx="279523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err="1"/>
              <a:t>databaseConnection</a:t>
            </a:r>
            <a:endParaRPr lang="en-IN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08E1DB0-ED86-063A-5699-918D2E6BABBA}"/>
              </a:ext>
            </a:extLst>
          </p:cNvPr>
          <p:cNvCxnSpPr/>
          <p:nvPr/>
        </p:nvCxnSpPr>
        <p:spPr>
          <a:xfrm>
            <a:off x="795453" y="2991065"/>
            <a:ext cx="300339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5369C8F0-B797-130E-9F1D-EA73EC3EEFA7}"/>
              </a:ext>
            </a:extLst>
          </p:cNvPr>
          <p:cNvSpPr txBox="1"/>
          <p:nvPr/>
        </p:nvSpPr>
        <p:spPr>
          <a:xfrm>
            <a:off x="906965" y="3226274"/>
            <a:ext cx="27134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err="1"/>
              <a:t>collectEnergyMetrics</a:t>
            </a:r>
            <a:r>
              <a:rPr lang="en-IN" dirty="0"/>
              <a:t>(</a:t>
            </a:r>
            <a:r>
              <a:rPr lang="en-IN" dirty="0" err="1"/>
              <a:t>deviceId</a:t>
            </a:r>
            <a:r>
              <a:rPr lang="en-IN" dirty="0"/>
              <a:t>) </a:t>
            </a:r>
            <a:r>
              <a:rPr lang="en-IN" dirty="0" err="1"/>
              <a:t>calculateConsumption</a:t>
            </a:r>
            <a:r>
              <a:rPr lang="en-IN" dirty="0"/>
              <a:t>(</a:t>
            </a:r>
            <a:r>
              <a:rPr lang="en-IN" dirty="0" err="1"/>
              <a:t>deviceId</a:t>
            </a:r>
            <a:r>
              <a:rPr lang="en-IN" dirty="0"/>
              <a:t>)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D1B5E4A5-7E0C-5EDF-4F21-141DB73E2783}"/>
              </a:ext>
            </a:extLst>
          </p:cNvPr>
          <p:cNvCxnSpPr/>
          <p:nvPr/>
        </p:nvCxnSpPr>
        <p:spPr>
          <a:xfrm>
            <a:off x="4980878" y="3013222"/>
            <a:ext cx="305543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BC069DEF-68B3-1F1F-F434-A4E8AFFEE5D0}"/>
              </a:ext>
            </a:extLst>
          </p:cNvPr>
          <p:cNvSpPr txBox="1"/>
          <p:nvPr/>
        </p:nvSpPr>
        <p:spPr>
          <a:xfrm>
            <a:off x="5248507" y="3211406"/>
            <a:ext cx="266885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err="1"/>
              <a:t>saveUsageLog</a:t>
            </a:r>
            <a:r>
              <a:rPr lang="en-IN" dirty="0"/>
              <a:t>(</a:t>
            </a:r>
            <a:r>
              <a:rPr lang="en-IN" dirty="0" err="1"/>
              <a:t>UsageLog</a:t>
            </a:r>
            <a:r>
              <a:rPr lang="en-IN" dirty="0"/>
              <a:t>)       </a:t>
            </a:r>
            <a:r>
              <a:rPr lang="en-IN" dirty="0" err="1"/>
              <a:t>fetchUsageLogs</a:t>
            </a:r>
            <a:r>
              <a:rPr lang="en-IN" dirty="0"/>
              <a:t>(</a:t>
            </a:r>
            <a:r>
              <a:rPr lang="en-IN" dirty="0" err="1"/>
              <a:t>deviceId</a:t>
            </a:r>
            <a:r>
              <a:rPr lang="en-IN" dirty="0"/>
              <a:t>) </a:t>
            </a:r>
          </a:p>
        </p:txBody>
      </p:sp>
    </p:spTree>
    <p:extLst>
      <p:ext uri="{BB962C8B-B14F-4D97-AF65-F5344CB8AC3E}">
        <p14:creationId xmlns:p14="http://schemas.microsoft.com/office/powerpoint/2010/main" val="340433613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E44DAC-A267-9CFC-4C54-C0A337573F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82C55C-471D-86D5-7FE9-2D6E830573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Db schema for module 3: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C116ED-E608-2B77-33A0-3BF8FFAF6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9450" y="2078875"/>
            <a:ext cx="3255252" cy="2261100"/>
          </a:xfrm>
        </p:spPr>
        <p:txBody>
          <a:bodyPr/>
          <a:lstStyle/>
          <a:p>
            <a:pPr marL="146050" indent="0">
              <a:buNone/>
            </a:pPr>
            <a:r>
              <a:rPr lang="en-US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 </a:t>
            </a:r>
            <a:r>
              <a:rPr lang="en-US" dirty="0" err="1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UsageLog</a:t>
            </a:r>
            <a:r>
              <a:rPr lang="en-US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{    </a:t>
            </a:r>
          </a:p>
          <a:p>
            <a:pPr marL="146050" indent="0">
              <a:buNone/>
            </a:pPr>
            <a:r>
              <a:rPr lang="en-US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long </a:t>
            </a:r>
            <a:r>
              <a:rPr lang="en-US" dirty="0" err="1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logId</a:t>
            </a:r>
            <a:r>
              <a:rPr lang="en-US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    </a:t>
            </a:r>
          </a:p>
          <a:p>
            <a:pPr marL="146050" indent="0">
              <a:buNone/>
            </a:pPr>
            <a:r>
              <a:rPr lang="en-US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String </a:t>
            </a:r>
            <a:r>
              <a:rPr lang="en-US" dirty="0" err="1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deviceId</a:t>
            </a:r>
            <a:r>
              <a:rPr lang="en-US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    </a:t>
            </a:r>
          </a:p>
          <a:p>
            <a:pPr marL="146050" indent="0">
              <a:buNone/>
            </a:pPr>
            <a:r>
              <a:rPr lang="en-US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double </a:t>
            </a:r>
            <a:r>
              <a:rPr lang="en-US" dirty="0" err="1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powerUsed</a:t>
            </a:r>
            <a:r>
              <a:rPr lang="en-US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   </a:t>
            </a:r>
          </a:p>
          <a:p>
            <a:pPr marL="146050" indent="0">
              <a:buNone/>
            </a:pPr>
            <a:r>
              <a:rPr lang="en-US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String timestamp;</a:t>
            </a:r>
          </a:p>
          <a:p>
            <a:pPr marL="146050" indent="0">
              <a:buNone/>
            </a:pPr>
            <a:r>
              <a:rPr lang="en-US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en-IN" dirty="0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A2C1E75-2940-8568-3A02-86611C9E4055}"/>
              </a:ext>
            </a:extLst>
          </p:cNvPr>
          <p:cNvSpPr txBox="1"/>
          <p:nvPr/>
        </p:nvSpPr>
        <p:spPr>
          <a:xfrm>
            <a:off x="5241073" y="2078875"/>
            <a:ext cx="3107473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EnergyTrackingController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{</a:t>
            </a:r>
          </a:p>
          <a:p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energyTrackingService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 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getRealTimeUsage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(String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deviceId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  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getUsageReport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(String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deviceId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19723654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2C8DEB-C317-C94E-2113-0F8ADDF4B8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FC57E4A-6E08-7735-8465-6F819DE1785B}"/>
              </a:ext>
            </a:extLst>
          </p:cNvPr>
          <p:cNvSpPr txBox="1"/>
          <p:nvPr/>
        </p:nvSpPr>
        <p:spPr>
          <a:xfrm>
            <a:off x="587298" y="1694133"/>
            <a:ext cx="3397405" cy="15465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 EnergyTrackingService {</a:t>
            </a:r>
          </a:p>
          <a:p>
            <a:endParaRPr lang="en-IN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IN" sz="13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UsageRepository</a:t>
            </a:r>
            <a:r>
              <a:rPr lang="en-IN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3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usageRepository</a:t>
            </a:r>
            <a:r>
              <a:rPr lang="en-IN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r>
              <a:rPr lang="en-IN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IN" sz="13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collectEnergyMetrics</a:t>
            </a:r>
            <a:r>
              <a:rPr lang="en-IN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(String </a:t>
            </a:r>
            <a:r>
              <a:rPr lang="en-IN" sz="13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deviceId</a:t>
            </a:r>
            <a:r>
              <a:rPr lang="en-IN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</a:p>
          <a:p>
            <a:r>
              <a:rPr lang="en-IN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IN" sz="13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calculateConsumption</a:t>
            </a:r>
            <a:r>
              <a:rPr lang="en-IN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(String </a:t>
            </a:r>
            <a:r>
              <a:rPr lang="en-IN" sz="13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deviceId</a:t>
            </a:r>
            <a:r>
              <a:rPr lang="en-IN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</a:p>
          <a:p>
            <a:endParaRPr lang="en-IN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EA60313-0B76-2FAA-151A-46DD7D551715}"/>
              </a:ext>
            </a:extLst>
          </p:cNvPr>
          <p:cNvSpPr txBox="1"/>
          <p:nvPr/>
        </p:nvSpPr>
        <p:spPr>
          <a:xfrm>
            <a:off x="4624039" y="1694133"/>
            <a:ext cx="4021871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UsageRepository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{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saveUsageLog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UsageLog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usageLog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getUsageLogByDeviceId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(String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deviceId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}</a:t>
            </a:r>
          </a:p>
        </p:txBody>
      </p:sp>
    </p:spTree>
    <p:extLst>
      <p:ext uri="{BB962C8B-B14F-4D97-AF65-F5344CB8AC3E}">
        <p14:creationId xmlns:p14="http://schemas.microsoft.com/office/powerpoint/2010/main" val="37959512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F5AE88-EA2F-4524-82EE-FA30944D00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24ABD6-4310-76A9-C205-3122FF3993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Pseudocode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449EFF-A330-FBD5-F801-0D90CAE4D9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55108" y="2136469"/>
            <a:ext cx="2905848" cy="1415173"/>
          </a:xfrm>
        </p:spPr>
        <p:txBody>
          <a:bodyPr/>
          <a:lstStyle/>
          <a:p>
            <a:pPr marL="146050" indent="0">
              <a:lnSpc>
                <a:spcPct val="150000"/>
              </a:lnSpc>
              <a:buNone/>
            </a:pPr>
            <a:r>
              <a:rPr lang="en-IN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 </a:t>
            </a:r>
            <a:r>
              <a:rPr lang="en-IN" dirty="0" err="1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EnergyUsage</a:t>
            </a:r>
            <a:endParaRPr lang="en-IN" dirty="0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46050" indent="0">
              <a:lnSpc>
                <a:spcPct val="150000"/>
              </a:lnSpc>
              <a:buNone/>
            </a:pPr>
            <a:r>
              <a:rPr lang="en-IN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dirty="0" err="1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deviceld</a:t>
            </a:r>
            <a:endParaRPr lang="en-IN" dirty="0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46050" indent="0">
              <a:lnSpc>
                <a:spcPct val="150000"/>
              </a:lnSpc>
              <a:buNone/>
            </a:pPr>
            <a:r>
              <a:rPr lang="en-IN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energy Used</a:t>
            </a:r>
          </a:p>
          <a:p>
            <a:pPr marL="146050" indent="0">
              <a:lnSpc>
                <a:spcPct val="150000"/>
              </a:lnSpc>
              <a:buNone/>
            </a:pPr>
            <a:r>
              <a:rPr lang="en-IN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Time</a:t>
            </a:r>
          </a:p>
          <a:p>
            <a:pPr marL="146050" indent="0">
              <a:lnSpc>
                <a:spcPct val="150000"/>
              </a:lnSpc>
              <a:buNone/>
            </a:pPr>
            <a:r>
              <a:rPr lang="en-IN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END CLASS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94D64CD-C4C1-5D49-1260-172A829641E2}"/>
              </a:ext>
            </a:extLst>
          </p:cNvPr>
          <p:cNvSpPr txBox="1"/>
          <p:nvPr/>
        </p:nvSpPr>
        <p:spPr>
          <a:xfrm>
            <a:off x="5114692" y="2136469"/>
            <a:ext cx="2988527" cy="13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EnergyService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 Energy(data)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store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energyusage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END FUNCTION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3798710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48B7C6-A6C5-7AAE-180D-10CFCE177C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FCB054B-5CFE-ECEB-08B8-3D862491286E}"/>
              </a:ext>
            </a:extLst>
          </p:cNvPr>
          <p:cNvSpPr txBox="1"/>
          <p:nvPr/>
        </p:nvSpPr>
        <p:spPr>
          <a:xfrm>
            <a:off x="453483" y="1381899"/>
            <a:ext cx="3308195" cy="25480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 </a:t>
            </a:r>
            <a:r>
              <a:rPr lang="en-IN" sz="13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EnergyController</a:t>
            </a:r>
            <a:endParaRPr lang="en-IN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>
              <a:lnSpc>
                <a:spcPct val="150000"/>
              </a:lnSpc>
            </a:pPr>
            <a:r>
              <a:rPr lang="en-IN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 </a:t>
            </a:r>
            <a:r>
              <a:rPr lang="en-IN" sz="13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recond</a:t>
            </a:r>
            <a:r>
              <a:rPr lang="en-IN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Energy(data)            </a:t>
            </a:r>
            <a:r>
              <a:rPr lang="en-IN" sz="13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EnergysdataiEnergyService.save</a:t>
            </a:r>
            <a:r>
              <a:rPr lang="en-IN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en-IN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END FUNCTION</a:t>
            </a:r>
          </a:p>
          <a:p>
            <a:pPr>
              <a:lnSpc>
                <a:spcPct val="150000"/>
              </a:lnSpc>
            </a:pPr>
            <a:r>
              <a:rPr lang="en-IN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 </a:t>
            </a:r>
            <a:r>
              <a:rPr lang="en-IN" sz="13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viewLaurgydeviceid</a:t>
            </a:r>
            <a:r>
              <a:rPr lang="en-IN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  <a:p>
            <a:pPr>
              <a:lnSpc>
                <a:spcPct val="150000"/>
              </a:lnSpc>
            </a:pPr>
            <a:r>
              <a:rPr lang="en-IN" sz="13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EnergyService.getEnergyt</a:t>
            </a:r>
            <a:r>
              <a:rPr lang="en-IN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3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deviceid</a:t>
            </a:r>
            <a:endParaRPr lang="en-IN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IN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END FUNCTION</a:t>
            </a:r>
          </a:p>
          <a:p>
            <a:pPr>
              <a:lnSpc>
                <a:spcPct val="150000"/>
              </a:lnSpc>
            </a:pPr>
            <a:r>
              <a:rPr lang="en-IN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END CLASS 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957F456-CB7F-4D45-6003-2A97D84E2D5A}"/>
              </a:ext>
            </a:extLst>
          </p:cNvPr>
          <p:cNvSpPr txBox="1"/>
          <p:nvPr/>
        </p:nvSpPr>
        <p:spPr>
          <a:xfrm>
            <a:off x="4690947" y="1442224"/>
            <a:ext cx="3932664" cy="26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EnergyRepository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 Save(data)</a:t>
            </a:r>
          </a:p>
          <a:p>
            <a:pPr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store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categery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</a:t>
            </a:r>
          </a:p>
          <a:p>
            <a:pPr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END FUNCTION</a:t>
            </a:r>
          </a:p>
          <a:p>
            <a:pPr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 find(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deviceid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return energy data</a:t>
            </a:r>
          </a:p>
          <a:p>
            <a:pPr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END FUNCTION</a:t>
            </a:r>
          </a:p>
          <a:p>
            <a:pPr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END CLASS</a:t>
            </a:r>
          </a:p>
        </p:txBody>
      </p:sp>
    </p:spTree>
    <p:extLst>
      <p:ext uri="{BB962C8B-B14F-4D97-AF65-F5344CB8AC3E}">
        <p14:creationId xmlns:p14="http://schemas.microsoft.com/office/powerpoint/2010/main" val="410222465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3F26F8D-6346-63E1-F1D7-79F317C9D8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4009" y="498088"/>
            <a:ext cx="8057416" cy="4504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9001705"/>
      </p:ext>
    </p:extLst>
  </p:cSld>
  <p:clrMapOvr>
    <a:masterClrMapping/>
  </p:clrMapOvr>
</p:sld>
</file>

<file path=ppt/theme/theme1.xml><?xml version="1.0" encoding="utf-8"?>
<a:theme xmlns:a="http://schemas.openxmlformats.org/drawingml/2006/main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247</TotalTime>
  <Words>1620</Words>
  <Application>Microsoft Office PowerPoint</Application>
  <PresentationFormat>On-screen Show (16:9)</PresentationFormat>
  <Paragraphs>364</Paragraphs>
  <Slides>31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7" baseType="lpstr">
      <vt:lpstr>Wingdings</vt:lpstr>
      <vt:lpstr>Raleway</vt:lpstr>
      <vt:lpstr>Times New Roman</vt:lpstr>
      <vt:lpstr>Lato</vt:lpstr>
      <vt:lpstr>Arial</vt:lpstr>
      <vt:lpstr>Streamline</vt:lpstr>
      <vt:lpstr>Smart Home  Energy Management System</vt:lpstr>
      <vt:lpstr>                         Meaning of the Title</vt:lpstr>
      <vt:lpstr>NUMBER OF MODULES AND WORK OF EACH MODULE</vt:lpstr>
      <vt:lpstr>SYSTEM  ARCHITECTURE</vt:lpstr>
      <vt:lpstr>Module 1-Authentication &amp; Role Management:</vt:lpstr>
      <vt:lpstr>NUMBER OF CLASSES IN MODULE 1:</vt:lpstr>
      <vt:lpstr>Class diagram </vt:lpstr>
      <vt:lpstr>PowerPoint Presentation</vt:lpstr>
      <vt:lpstr>Db schema for module 1:</vt:lpstr>
      <vt:lpstr>PowerPoint Presentation</vt:lpstr>
      <vt:lpstr>Pseudocode</vt:lpstr>
      <vt:lpstr>PowerPoint Presentation</vt:lpstr>
      <vt:lpstr>Module 2: Smart Device Management   </vt:lpstr>
      <vt:lpstr>NUMBER OF CLASSES IN MODULE 2:</vt:lpstr>
      <vt:lpstr>Class diagram </vt:lpstr>
      <vt:lpstr>PowerPoint Presentation</vt:lpstr>
      <vt:lpstr>Db schema for module 2:</vt:lpstr>
      <vt:lpstr>PowerPoint Presentation</vt:lpstr>
      <vt:lpstr>Pseudocode</vt:lpstr>
      <vt:lpstr>PowerPoint Presentation</vt:lpstr>
      <vt:lpstr>PowerPoint Presentation</vt:lpstr>
      <vt:lpstr>PowerPoint Presentation</vt:lpstr>
      <vt:lpstr>Module 3:Real-Time Energy Tracking  </vt:lpstr>
      <vt:lpstr>NUMBER OF CLASSES IN MODULE 3:</vt:lpstr>
      <vt:lpstr>Class diagram </vt:lpstr>
      <vt:lpstr>PowerPoint Presentation</vt:lpstr>
      <vt:lpstr>Db schema for module 3:</vt:lpstr>
      <vt:lpstr>PowerPoint Presentation</vt:lpstr>
      <vt:lpstr>Pseudocode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VAISHNAVI</dc:creator>
  <cp:lastModifiedBy>vaishnavi m</cp:lastModifiedBy>
  <cp:revision>3</cp:revision>
  <dcterms:modified xsi:type="dcterms:W3CDTF">2026-01-09T14:49:50Z</dcterms:modified>
</cp:coreProperties>
</file>